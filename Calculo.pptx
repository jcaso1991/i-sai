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4" r:id="rId2"/>
  </p:sldMasterIdLst>
  <p:notesMasterIdLst>
    <p:notesMasterId r:id="rId11"/>
  </p:notesMasterIdLst>
  <p:handoutMasterIdLst>
    <p:handoutMasterId r:id="rId12"/>
  </p:handoutMasterIdLst>
  <p:sldIdLst>
    <p:sldId id="278" r:id="rId3"/>
    <p:sldId id="335" r:id="rId4"/>
    <p:sldId id="328" r:id="rId5"/>
    <p:sldId id="325" r:id="rId6"/>
    <p:sldId id="333" r:id="rId7"/>
    <p:sldId id="334" r:id="rId8"/>
    <p:sldId id="275" r:id="rId9"/>
    <p:sldId id="327" r:id="rId10"/>
  </p:sldIdLst>
  <p:sldSz cx="9144000" cy="6858000" type="screen4x3"/>
  <p:notesSz cx="6858000" cy="9144000"/>
  <p:defaultTextStyle>
    <a:defPPr>
      <a:defRPr lang="es-ES_trad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20">
          <p15:clr>
            <a:srgbClr val="A4A3A4"/>
          </p15:clr>
        </p15:guide>
        <p15:guide id="2" pos="4080">
          <p15:clr>
            <a:srgbClr val="A4A3A4"/>
          </p15:clr>
        </p15:guide>
        <p15:guide id="3" orient="horz">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2352"/>
    <a:srgbClr val="56BC8A"/>
    <a:srgbClr val="097E6A"/>
    <a:srgbClr val="63228C"/>
    <a:srgbClr val="156D8A"/>
    <a:srgbClr val="656456"/>
    <a:srgbClr val="4664A3"/>
    <a:srgbClr val="05254A"/>
    <a:srgbClr val="9F488C"/>
    <a:srgbClr val="6322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652" autoAdjust="0"/>
    <p:restoredTop sz="94767" autoAdjust="0"/>
  </p:normalViewPr>
  <p:slideViewPr>
    <p:cSldViewPr snapToObjects="1" showGuides="1">
      <p:cViewPr varScale="1">
        <p:scale>
          <a:sx n="77" d="100"/>
          <a:sy n="77" d="100"/>
        </p:scale>
        <p:origin x="864" y="72"/>
      </p:cViewPr>
      <p:guideLst>
        <p:guide orient="horz" pos="1920"/>
        <p:guide pos="4080"/>
        <p:guide orient="horz"/>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Objects="1">
      <p:cViewPr varScale="1">
        <p:scale>
          <a:sx n="87" d="100"/>
          <a:sy n="87" d="100"/>
        </p:scale>
        <p:origin x="3840"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9E54C7-E4FF-4971-9947-33D1CDD64FA9}" type="datetimeFigureOut">
              <a:rPr lang="es-ES" smtClean="0"/>
              <a:t>26/05/2026</a:t>
            </a:fld>
            <a:endParaRPr lang="es-ES"/>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E805518-39D5-45DD-AEA2-8EAF41AB1FD0}" type="slidenum">
              <a:rPr lang="es-ES" smtClean="0"/>
              <a:t>‹Nº›</a:t>
            </a:fld>
            <a:endParaRPr lang="es-ES"/>
          </a:p>
        </p:txBody>
      </p:sp>
    </p:spTree>
    <p:extLst>
      <p:ext uri="{BB962C8B-B14F-4D97-AF65-F5344CB8AC3E}">
        <p14:creationId xmlns:p14="http://schemas.microsoft.com/office/powerpoint/2010/main" val="42531904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5A3C2D-56E5-254C-ABEB-01DC69D1BDF7}" type="datetimeFigureOut">
              <a:rPr lang="es-ES_tradnl" smtClean="0"/>
              <a:pPr/>
              <a:t>26/05/2026</a:t>
            </a:fld>
            <a:endParaRPr lang="es-ES_tradnl"/>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85D252-4D29-6349-A41D-D81F44B7E2A6}" type="slidenum">
              <a:rPr lang="es-ES_tradnl" smtClean="0"/>
              <a:pPr/>
              <a:t>‹Nº›</a:t>
            </a:fld>
            <a:endParaRPr lang="es-ES_tradnl"/>
          </a:p>
        </p:txBody>
      </p:sp>
    </p:spTree>
    <p:extLst>
      <p:ext uri="{BB962C8B-B14F-4D97-AF65-F5344CB8AC3E}">
        <p14:creationId xmlns:p14="http://schemas.microsoft.com/office/powerpoint/2010/main" val="1961651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a de título">
    <p:spTree>
      <p:nvGrpSpPr>
        <p:cNvPr id="1" name=""/>
        <p:cNvGrpSpPr/>
        <p:nvPr/>
      </p:nvGrpSpPr>
      <p:grpSpPr>
        <a:xfrm>
          <a:off x="0" y="0"/>
          <a:ext cx="0" cy="0"/>
          <a:chOff x="0" y="0"/>
          <a:chExt cx="0" cy="0"/>
        </a:xfrm>
      </p:grpSpPr>
      <p:sp useBgFill="1">
        <p:nvSpPr>
          <p:cNvPr id="31" name="Rectángulo redondeado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ángulo 9"/>
          <p:cNvSpPr/>
          <p:nvPr userDrawn="1"/>
        </p:nvSpPr>
        <p:spPr>
          <a:xfrm>
            <a:off x="0" y="3675527"/>
            <a:ext cx="7376507" cy="422032"/>
          </a:xfrm>
          <a:prstGeom prst="rect">
            <a:avLst/>
          </a:prstGeom>
          <a:solidFill>
            <a:srgbClr val="9F488C"/>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ángulo 18"/>
          <p:cNvSpPr/>
          <p:nvPr userDrawn="1"/>
        </p:nvSpPr>
        <p:spPr>
          <a:xfrm>
            <a:off x="0" y="0"/>
            <a:ext cx="9144000" cy="3701700"/>
          </a:xfrm>
          <a:prstGeom prst="rect">
            <a:avLst/>
          </a:prstGeom>
          <a:solidFill>
            <a:srgbClr val="3F235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ubtítulo 8"/>
          <p:cNvSpPr>
            <a:spLocks noGrp="1"/>
          </p:cNvSpPr>
          <p:nvPr>
            <p:ph type="subTitle" idx="1"/>
          </p:nvPr>
        </p:nvSpPr>
        <p:spPr>
          <a:xfrm>
            <a:off x="457200" y="4114800"/>
            <a:ext cx="4953000" cy="1752600"/>
          </a:xfrm>
        </p:spPr>
        <p:txBody>
          <a:bodyPr/>
          <a:lstStyle>
            <a:lvl1pPr marL="64008" indent="0" algn="l">
              <a:buNone/>
              <a:defRPr sz="2400">
                <a:solidFill>
                  <a:schemeClr val="tx2"/>
                </a:solidFill>
                <a:latin typeface="Arial"/>
                <a:cs typeface="Aria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_tradnl" dirty="0"/>
              <a:t>Haga clic para modificar el estilo de subtítulo del patrón</a:t>
            </a:r>
            <a:endParaRPr kumimoji="0" lang="en-US" dirty="0"/>
          </a:p>
        </p:txBody>
      </p:sp>
      <p:sp>
        <p:nvSpPr>
          <p:cNvPr id="29" name="Marcador de número de diapositiva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A7594425-C757-EB46-8E6D-7C16DC563656}" type="slidenum">
              <a:rPr lang="es-ES_tradnl" smtClean="0"/>
              <a:pPr/>
              <a:t>‹Nº›</a:t>
            </a:fld>
            <a:endParaRPr lang="es-ES_tradnl"/>
          </a:p>
        </p:txBody>
      </p:sp>
      <p:sp>
        <p:nvSpPr>
          <p:cNvPr id="11" name="Rectángulo 10"/>
          <p:cNvSpPr/>
          <p:nvPr userDrawn="1"/>
        </p:nvSpPr>
        <p:spPr>
          <a:xfrm>
            <a:off x="7376506" y="3701700"/>
            <a:ext cx="1767493" cy="395859"/>
          </a:xfrm>
          <a:prstGeom prst="rect">
            <a:avLst/>
          </a:prstGeom>
          <a:solidFill>
            <a:srgbClr val="63226E"/>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Marcador de fecha 13"/>
          <p:cNvSpPr>
            <a:spLocks noGrp="1"/>
          </p:cNvSpPr>
          <p:nvPr>
            <p:ph type="dt" sz="half" idx="2"/>
          </p:nvPr>
        </p:nvSpPr>
        <p:spPr>
          <a:xfrm>
            <a:off x="8339136" y="6477000"/>
            <a:ext cx="957264" cy="457200"/>
          </a:xfrm>
          <a:prstGeom prst="rect">
            <a:avLst/>
          </a:prstGeom>
        </p:spPr>
        <p:txBody>
          <a:bodyPr vert="horz"/>
          <a:lstStyle>
            <a:lvl1pPr algn="l" eaLnBrk="1" latinLnBrk="0" hangingPunct="1">
              <a:defRPr kumimoji="0" sz="800">
                <a:solidFill>
                  <a:srgbClr val="656456"/>
                </a:solidFill>
                <a:latin typeface="Arial"/>
                <a:cs typeface="Arial"/>
              </a:defRPr>
            </a:lvl1pPr>
          </a:lstStyle>
          <a:p>
            <a:fld id="{235BD14B-6DF7-4D47-96F2-5190B5C76150}" type="datetimeFigureOut">
              <a:rPr lang="es-ES_tradnl" smtClean="0"/>
              <a:pPr/>
              <a:t>26/05/2026</a:t>
            </a:fld>
            <a:endParaRPr lang="es-ES_tradnl" dirty="0"/>
          </a:p>
        </p:txBody>
      </p:sp>
      <p:sp>
        <p:nvSpPr>
          <p:cNvPr id="16" name="Marcador de pie de página 2"/>
          <p:cNvSpPr>
            <a:spLocks noGrp="1"/>
          </p:cNvSpPr>
          <p:nvPr>
            <p:ph type="ftr" sz="quarter" idx="3"/>
          </p:nvPr>
        </p:nvSpPr>
        <p:spPr>
          <a:xfrm>
            <a:off x="7013256" y="6477000"/>
            <a:ext cx="1325880" cy="457200"/>
          </a:xfrm>
          <a:prstGeom prst="rect">
            <a:avLst/>
          </a:prstGeom>
        </p:spPr>
        <p:txBody>
          <a:bodyPr vert="horz"/>
          <a:lstStyle>
            <a:lvl1pPr algn="l" eaLnBrk="1" latinLnBrk="0" hangingPunct="1">
              <a:defRPr kumimoji="0" sz="900">
                <a:solidFill>
                  <a:srgbClr val="656456"/>
                </a:solidFill>
                <a:latin typeface="Arial"/>
                <a:cs typeface="Arial"/>
              </a:defRPr>
            </a:lvl1pPr>
          </a:lstStyle>
          <a:p>
            <a:r>
              <a:rPr lang="es-ES_tradnl" dirty="0" err="1"/>
              <a:t>www.sabico.com</a:t>
            </a:r>
            <a:endParaRPr lang="es-ES_tradnl" dirty="0"/>
          </a:p>
        </p:txBody>
      </p:sp>
      <p:pic>
        <p:nvPicPr>
          <p:cNvPr id="14" name="Imagen 13" descr="Sabico_SEGURIDAD_H_1T.png"/>
          <p:cNvPicPr>
            <a:picLocks noChangeAspect="1"/>
          </p:cNvPicPr>
          <p:nvPr userDrawn="1"/>
        </p:nvPicPr>
        <p:blipFill>
          <a:blip r:embed="rId2"/>
          <a:stretch>
            <a:fillRect/>
          </a:stretch>
        </p:blipFill>
        <p:spPr>
          <a:xfrm>
            <a:off x="609600" y="2002801"/>
            <a:ext cx="4114800" cy="127084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Diapositiva de título">
    <p:spTree>
      <p:nvGrpSpPr>
        <p:cNvPr id="1" name=""/>
        <p:cNvGrpSpPr/>
        <p:nvPr/>
      </p:nvGrpSpPr>
      <p:grpSpPr>
        <a:xfrm>
          <a:off x="0" y="0"/>
          <a:ext cx="0" cy="0"/>
          <a:chOff x="0" y="0"/>
          <a:chExt cx="0" cy="0"/>
        </a:xfrm>
      </p:grpSpPr>
      <p:sp useBgFill="1">
        <p:nvSpPr>
          <p:cNvPr id="31" name="Rectángulo redondeado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ángulo 9"/>
          <p:cNvSpPr/>
          <p:nvPr userDrawn="1"/>
        </p:nvSpPr>
        <p:spPr>
          <a:xfrm>
            <a:off x="0" y="3675527"/>
            <a:ext cx="7376507" cy="422032"/>
          </a:xfrm>
          <a:prstGeom prst="rect">
            <a:avLst/>
          </a:prstGeom>
          <a:solidFill>
            <a:srgbClr val="9F488C"/>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ángulo 18"/>
          <p:cNvSpPr/>
          <p:nvPr userDrawn="1"/>
        </p:nvSpPr>
        <p:spPr>
          <a:xfrm>
            <a:off x="0" y="0"/>
            <a:ext cx="9144000" cy="3701700"/>
          </a:xfrm>
          <a:prstGeom prst="rect">
            <a:avLst/>
          </a:prstGeom>
          <a:solidFill>
            <a:srgbClr val="3F235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Marcador de número de diapositiva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A7594425-C757-EB46-8E6D-7C16DC563656}" type="slidenum">
              <a:rPr lang="es-ES_tradnl" smtClean="0"/>
              <a:pPr/>
              <a:t>‹Nº›</a:t>
            </a:fld>
            <a:endParaRPr lang="es-ES_tradnl"/>
          </a:p>
        </p:txBody>
      </p:sp>
      <p:sp>
        <p:nvSpPr>
          <p:cNvPr id="11" name="Rectángulo 10"/>
          <p:cNvSpPr/>
          <p:nvPr userDrawn="1"/>
        </p:nvSpPr>
        <p:spPr>
          <a:xfrm>
            <a:off x="7376506" y="3701700"/>
            <a:ext cx="1767493" cy="395859"/>
          </a:xfrm>
          <a:prstGeom prst="rect">
            <a:avLst/>
          </a:prstGeom>
          <a:solidFill>
            <a:srgbClr val="63226E"/>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Título 1"/>
          <p:cNvSpPr>
            <a:spLocks noGrp="1"/>
          </p:cNvSpPr>
          <p:nvPr>
            <p:ph type="title"/>
          </p:nvPr>
        </p:nvSpPr>
        <p:spPr>
          <a:xfrm>
            <a:off x="457200" y="2429086"/>
            <a:ext cx="8229600" cy="1066800"/>
          </a:xfrm>
        </p:spPr>
        <p:txBody>
          <a:bodyPr/>
          <a:lstStyle>
            <a:lvl1pPr>
              <a:defRPr>
                <a:solidFill>
                  <a:schemeClr val="bg1"/>
                </a:solidFill>
                <a:latin typeface="Arial"/>
                <a:cs typeface="Arial"/>
              </a:defRPr>
            </a:lvl1pPr>
          </a:lstStyle>
          <a:p>
            <a:r>
              <a:rPr kumimoji="0" lang="es-ES_tradnl" dirty="0"/>
              <a:t>Clic para editar título</a:t>
            </a:r>
            <a:endParaRPr kumimoji="0" lang="en-US" dirty="0"/>
          </a:p>
        </p:txBody>
      </p:sp>
      <p:pic>
        <p:nvPicPr>
          <p:cNvPr id="16" name="Imagen 15" descr="Sabico_SEGURIDAD_H_CMYK.png"/>
          <p:cNvPicPr>
            <a:picLocks noChangeAspect="1"/>
          </p:cNvPicPr>
          <p:nvPr userDrawn="1"/>
        </p:nvPicPr>
        <p:blipFill>
          <a:blip r:embed="rId2"/>
          <a:stretch>
            <a:fillRect/>
          </a:stretch>
        </p:blipFill>
        <p:spPr>
          <a:xfrm>
            <a:off x="6553200" y="5695772"/>
            <a:ext cx="2330531" cy="71618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Diapositiva de título">
    <p:spTree>
      <p:nvGrpSpPr>
        <p:cNvPr id="1" name=""/>
        <p:cNvGrpSpPr/>
        <p:nvPr/>
      </p:nvGrpSpPr>
      <p:grpSpPr>
        <a:xfrm>
          <a:off x="0" y="0"/>
          <a:ext cx="0" cy="0"/>
          <a:chOff x="0" y="0"/>
          <a:chExt cx="0" cy="0"/>
        </a:xfrm>
      </p:grpSpPr>
      <p:sp>
        <p:nvSpPr>
          <p:cNvPr id="19" name="Rectángulo 18"/>
          <p:cNvSpPr/>
          <p:nvPr userDrawn="1"/>
        </p:nvSpPr>
        <p:spPr>
          <a:xfrm flipV="1">
            <a:off x="-1" y="3719708"/>
            <a:ext cx="9144000" cy="3156300"/>
          </a:xfrm>
          <a:prstGeom prst="rect">
            <a:avLst/>
          </a:prstGeom>
          <a:solidFill>
            <a:srgbClr val="3F235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useBgFill="1">
        <p:nvSpPr>
          <p:cNvPr id="31" name="Rectángulo redondeado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ángulo 9"/>
          <p:cNvSpPr/>
          <p:nvPr userDrawn="1"/>
        </p:nvSpPr>
        <p:spPr>
          <a:xfrm>
            <a:off x="0" y="3701699"/>
            <a:ext cx="7376507" cy="395859"/>
          </a:xfrm>
          <a:prstGeom prst="rect">
            <a:avLst/>
          </a:prstGeom>
          <a:solidFill>
            <a:srgbClr val="9F488C"/>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ángulo 10"/>
          <p:cNvSpPr/>
          <p:nvPr userDrawn="1"/>
        </p:nvSpPr>
        <p:spPr>
          <a:xfrm>
            <a:off x="7376506" y="3701700"/>
            <a:ext cx="1767493" cy="395859"/>
          </a:xfrm>
          <a:prstGeom prst="rect">
            <a:avLst/>
          </a:prstGeom>
          <a:solidFill>
            <a:srgbClr val="63226E"/>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Marcador de número de diapositiva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A7594425-C757-EB46-8E6D-7C16DC563656}" type="slidenum">
              <a:rPr lang="es-ES_tradnl" smtClean="0"/>
              <a:pPr/>
              <a:t>‹Nº›</a:t>
            </a:fld>
            <a:endParaRPr lang="es-ES_tradnl"/>
          </a:p>
        </p:txBody>
      </p:sp>
      <p:sp>
        <p:nvSpPr>
          <p:cNvPr id="18" name="Título 1"/>
          <p:cNvSpPr>
            <a:spLocks noGrp="1"/>
          </p:cNvSpPr>
          <p:nvPr>
            <p:ph type="title"/>
          </p:nvPr>
        </p:nvSpPr>
        <p:spPr>
          <a:xfrm>
            <a:off x="457200" y="2429086"/>
            <a:ext cx="8229600" cy="1066800"/>
          </a:xfrm>
        </p:spPr>
        <p:txBody>
          <a:bodyPr/>
          <a:lstStyle>
            <a:lvl1pPr>
              <a:defRPr>
                <a:solidFill>
                  <a:schemeClr val="tx1">
                    <a:lumMod val="50000"/>
                    <a:lumOff val="50000"/>
                  </a:schemeClr>
                </a:solidFill>
                <a:latin typeface="Arial"/>
                <a:cs typeface="Arial"/>
              </a:defRPr>
            </a:lvl1pPr>
          </a:lstStyle>
          <a:p>
            <a:r>
              <a:rPr kumimoji="0" lang="es-ES_tradnl" dirty="0"/>
              <a:t>Clic para editar título</a:t>
            </a:r>
            <a:endParaRPr kumimoji="0" lang="en-US" dirty="0"/>
          </a:p>
        </p:txBody>
      </p:sp>
      <p:pic>
        <p:nvPicPr>
          <p:cNvPr id="15" name="Imagen 14" descr="Sabico_SEGURIDAD_H_1T.png"/>
          <p:cNvPicPr>
            <a:picLocks noChangeAspect="1"/>
          </p:cNvPicPr>
          <p:nvPr userDrawn="1"/>
        </p:nvPicPr>
        <p:blipFill>
          <a:blip r:embed="rId2"/>
          <a:stretch>
            <a:fillRect/>
          </a:stretch>
        </p:blipFill>
        <p:spPr>
          <a:xfrm>
            <a:off x="6588224" y="5720552"/>
            <a:ext cx="2160240" cy="667186"/>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4_Diapositiva de título">
    <p:spTree>
      <p:nvGrpSpPr>
        <p:cNvPr id="1" name=""/>
        <p:cNvGrpSpPr/>
        <p:nvPr/>
      </p:nvGrpSpPr>
      <p:grpSpPr>
        <a:xfrm>
          <a:off x="0" y="0"/>
          <a:ext cx="0" cy="0"/>
          <a:chOff x="0" y="0"/>
          <a:chExt cx="0" cy="0"/>
        </a:xfrm>
      </p:grpSpPr>
      <p:sp>
        <p:nvSpPr>
          <p:cNvPr id="19" name="Rectángulo 18"/>
          <p:cNvSpPr/>
          <p:nvPr userDrawn="1"/>
        </p:nvSpPr>
        <p:spPr>
          <a:xfrm flipV="1">
            <a:off x="-1" y="3719708"/>
            <a:ext cx="9144000" cy="3156300"/>
          </a:xfrm>
          <a:prstGeom prst="rect">
            <a:avLst/>
          </a:prstGeom>
          <a:solidFill>
            <a:srgbClr val="3F235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ectángulo redondeado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ángulo 9"/>
          <p:cNvSpPr/>
          <p:nvPr userDrawn="1"/>
        </p:nvSpPr>
        <p:spPr>
          <a:xfrm>
            <a:off x="0" y="3701699"/>
            <a:ext cx="7376507" cy="395859"/>
          </a:xfrm>
          <a:prstGeom prst="rect">
            <a:avLst/>
          </a:prstGeom>
          <a:solidFill>
            <a:srgbClr val="9F488C"/>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ubtítulo 8"/>
          <p:cNvSpPr>
            <a:spLocks noGrp="1"/>
          </p:cNvSpPr>
          <p:nvPr>
            <p:ph type="subTitle" idx="1" hasCustomPrompt="1"/>
          </p:nvPr>
        </p:nvSpPr>
        <p:spPr>
          <a:xfrm>
            <a:off x="457200" y="4114800"/>
            <a:ext cx="4953000" cy="1752600"/>
          </a:xfrm>
        </p:spPr>
        <p:txBody>
          <a:bodyPr/>
          <a:lstStyle>
            <a:lvl1pPr marL="64008" marR="0" indent="0" algn="l" defTabSz="914400" rtl="0" eaLnBrk="1" fontAlgn="auto" latinLnBrk="0" hangingPunct="1">
              <a:lnSpc>
                <a:spcPct val="100000"/>
              </a:lnSpc>
              <a:spcBef>
                <a:spcPts val="300"/>
              </a:spcBef>
              <a:spcAft>
                <a:spcPts val="0"/>
              </a:spcAft>
              <a:buClrTx/>
              <a:buSzTx/>
              <a:buFont typeface="Georgia"/>
              <a:buNone/>
              <a:tabLst/>
              <a:defRPr sz="2400">
                <a:solidFill>
                  <a:schemeClr val="bg1"/>
                </a:solidFill>
                <a:latin typeface="Arial"/>
                <a:cs typeface="Aria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marL="64008" marR="0" lvl="0" indent="0" algn="l" defTabSz="914400" rtl="0" eaLnBrk="1" fontAlgn="auto" latinLnBrk="0" hangingPunct="1">
              <a:lnSpc>
                <a:spcPct val="100000"/>
              </a:lnSpc>
              <a:spcBef>
                <a:spcPts val="300"/>
              </a:spcBef>
              <a:spcAft>
                <a:spcPts val="0"/>
              </a:spcAft>
              <a:buClrTx/>
              <a:buSzTx/>
              <a:buFont typeface="Georgia"/>
              <a:buNone/>
              <a:tabLst/>
              <a:defRPr/>
            </a:pPr>
            <a:r>
              <a:rPr lang="es-ES_tradnl" dirty="0"/>
              <a:t>Cambios en la Gestión de Almacenes en </a:t>
            </a:r>
            <a:r>
              <a:rPr lang="es-ES_tradnl" dirty="0" err="1"/>
              <a:t>Sabico</a:t>
            </a:r>
            <a:r>
              <a:rPr lang="es-ES_tradnl" dirty="0"/>
              <a:t> y </a:t>
            </a:r>
            <a:r>
              <a:rPr lang="es-ES_tradnl" dirty="0" err="1"/>
              <a:t>Abymatic</a:t>
            </a:r>
            <a:endParaRPr lang="es-ES_tradnl" dirty="0"/>
          </a:p>
        </p:txBody>
      </p:sp>
      <p:sp>
        <p:nvSpPr>
          <p:cNvPr id="11" name="Rectángulo 10"/>
          <p:cNvSpPr/>
          <p:nvPr userDrawn="1"/>
        </p:nvSpPr>
        <p:spPr>
          <a:xfrm>
            <a:off x="7376506" y="3701700"/>
            <a:ext cx="1767493" cy="395859"/>
          </a:xfrm>
          <a:prstGeom prst="rect">
            <a:avLst/>
          </a:prstGeom>
          <a:solidFill>
            <a:srgbClr val="63226E"/>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Marcador de fecha 13"/>
          <p:cNvSpPr>
            <a:spLocks noGrp="1"/>
          </p:cNvSpPr>
          <p:nvPr>
            <p:ph type="dt" sz="half" idx="2"/>
          </p:nvPr>
        </p:nvSpPr>
        <p:spPr>
          <a:xfrm>
            <a:off x="8339136" y="6477000"/>
            <a:ext cx="957264" cy="457200"/>
          </a:xfrm>
          <a:prstGeom prst="rect">
            <a:avLst/>
          </a:prstGeom>
        </p:spPr>
        <p:txBody>
          <a:bodyPr vert="horz"/>
          <a:lstStyle>
            <a:lvl1pPr algn="l" eaLnBrk="1" latinLnBrk="0" hangingPunct="1">
              <a:defRPr kumimoji="0" sz="800">
                <a:solidFill>
                  <a:schemeClr val="bg1"/>
                </a:solidFill>
                <a:latin typeface="Arial"/>
                <a:cs typeface="Arial"/>
              </a:defRPr>
            </a:lvl1pPr>
          </a:lstStyle>
          <a:p>
            <a:fld id="{235BD14B-6DF7-4D47-96F2-5190B5C76150}" type="datetimeFigureOut">
              <a:rPr lang="es-ES_tradnl" smtClean="0"/>
              <a:pPr/>
              <a:t>26/05/2026</a:t>
            </a:fld>
            <a:endParaRPr lang="es-ES_tradnl" dirty="0"/>
          </a:p>
        </p:txBody>
      </p:sp>
      <p:sp>
        <p:nvSpPr>
          <p:cNvPr id="16" name="Marcador de pie de página 2"/>
          <p:cNvSpPr>
            <a:spLocks noGrp="1"/>
          </p:cNvSpPr>
          <p:nvPr>
            <p:ph type="ftr" sz="quarter" idx="3"/>
          </p:nvPr>
        </p:nvSpPr>
        <p:spPr>
          <a:xfrm>
            <a:off x="7013256" y="6477000"/>
            <a:ext cx="1325880" cy="457200"/>
          </a:xfrm>
          <a:prstGeom prst="rect">
            <a:avLst/>
          </a:prstGeom>
        </p:spPr>
        <p:txBody>
          <a:bodyPr vert="horz"/>
          <a:lstStyle>
            <a:lvl1pPr algn="l" eaLnBrk="1" latinLnBrk="0" hangingPunct="1">
              <a:defRPr kumimoji="0" sz="900">
                <a:solidFill>
                  <a:schemeClr val="bg1"/>
                </a:solidFill>
                <a:latin typeface="Arial"/>
                <a:cs typeface="Arial"/>
              </a:defRPr>
            </a:lvl1pPr>
          </a:lstStyle>
          <a:p>
            <a:r>
              <a:rPr lang="es-ES_tradnl" dirty="0" err="1"/>
              <a:t>www.sabico.com</a:t>
            </a:r>
            <a:endParaRPr lang="es-ES_tradnl" dirty="0"/>
          </a:p>
        </p:txBody>
      </p:sp>
      <p:sp>
        <p:nvSpPr>
          <p:cNvPr id="29" name="Marcador de número de diapositiva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A7594425-C757-EB46-8E6D-7C16DC563656}" type="slidenum">
              <a:rPr lang="es-ES_tradnl" smtClean="0"/>
              <a:pPr/>
              <a:t>‹Nº›</a:t>
            </a:fld>
            <a:endParaRPr lang="es-ES_tradnl"/>
          </a:p>
        </p:txBody>
      </p:sp>
      <p:pic>
        <p:nvPicPr>
          <p:cNvPr id="13" name="Imagen 12" descr="Sabico_SEGURIDAD_H_CMYK.png"/>
          <p:cNvPicPr>
            <a:picLocks noChangeAspect="1"/>
          </p:cNvPicPr>
          <p:nvPr userDrawn="1"/>
        </p:nvPicPr>
        <p:blipFill>
          <a:blip r:embed="rId2"/>
          <a:stretch>
            <a:fillRect/>
          </a:stretch>
        </p:blipFill>
        <p:spPr>
          <a:xfrm>
            <a:off x="609600" y="2012094"/>
            <a:ext cx="4114800" cy="1264506"/>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blemática">
    <p:spTree>
      <p:nvGrpSpPr>
        <p:cNvPr id="1" name=""/>
        <p:cNvGrpSpPr/>
        <p:nvPr/>
      </p:nvGrpSpPr>
      <p:grpSpPr>
        <a:xfrm>
          <a:off x="0" y="0"/>
          <a:ext cx="0" cy="0"/>
          <a:chOff x="0" y="0"/>
          <a:chExt cx="0" cy="0"/>
        </a:xfrm>
      </p:grpSpPr>
      <p:sp>
        <p:nvSpPr>
          <p:cNvPr id="3" name="Marcador de contenido 2"/>
          <p:cNvSpPr>
            <a:spLocks noGrp="1"/>
          </p:cNvSpPr>
          <p:nvPr>
            <p:ph idx="1"/>
          </p:nvPr>
        </p:nvSpPr>
        <p:spPr/>
        <p:txBody>
          <a:bodyPr/>
          <a:lstStyle>
            <a:lvl2pPr>
              <a:defRPr>
                <a:solidFill>
                  <a:srgbClr val="097E6A"/>
                </a:solidFill>
              </a:defRPr>
            </a:lvl2pPr>
            <a:lvl3pPr>
              <a:defRPr>
                <a:solidFill>
                  <a:srgbClr val="05254A"/>
                </a:solidFill>
              </a:defRPr>
            </a:lvl3pPr>
            <a:lvl4pPr>
              <a:defRPr>
                <a:solidFill>
                  <a:srgbClr val="56BC8A"/>
                </a:solidFill>
              </a:defRPr>
            </a:lvl4pPr>
            <a:lvl5pPr>
              <a:defRPr>
                <a:solidFill>
                  <a:srgbClr val="4664A3"/>
                </a:solidFill>
              </a:defRPr>
            </a:lvl5pPr>
          </a:lstStyle>
          <a:p>
            <a:pPr lvl="0" eaLnBrk="1" latinLnBrk="0" hangingPunct="1"/>
            <a:r>
              <a:rPr lang="es-ES_tradnl" dirty="0"/>
              <a:t>Haga clic para modificar el estilo de texto del patrón</a:t>
            </a:r>
          </a:p>
          <a:p>
            <a:pPr lvl="1" eaLnBrk="1" latinLnBrk="0" hangingPunct="1"/>
            <a:r>
              <a:rPr lang="es-ES_tradnl" dirty="0"/>
              <a:t>Segundo nivel</a:t>
            </a:r>
          </a:p>
          <a:p>
            <a:pPr lvl="2" eaLnBrk="1" latinLnBrk="0" hangingPunct="1"/>
            <a:r>
              <a:rPr lang="es-ES_tradnl" dirty="0"/>
              <a:t>Tercer nivel</a:t>
            </a:r>
          </a:p>
          <a:p>
            <a:pPr lvl="3" eaLnBrk="1" latinLnBrk="0" hangingPunct="1"/>
            <a:r>
              <a:rPr lang="es-ES_tradnl" dirty="0"/>
              <a:t>Cuarto nivel</a:t>
            </a:r>
          </a:p>
          <a:p>
            <a:pPr lvl="4" eaLnBrk="1" latinLnBrk="0" hangingPunct="1"/>
            <a:r>
              <a:rPr lang="es-ES_tradnl" dirty="0"/>
              <a:t>Quinto nivel</a:t>
            </a:r>
            <a:endParaRPr kumimoji="0" lang="en-US" dirty="0"/>
          </a:p>
        </p:txBody>
      </p:sp>
      <p:sp>
        <p:nvSpPr>
          <p:cNvPr id="6" name="Marcador de número de diapositiva 5"/>
          <p:cNvSpPr>
            <a:spLocks noGrp="1"/>
          </p:cNvSpPr>
          <p:nvPr>
            <p:ph type="sldNum" sz="quarter" idx="12"/>
          </p:nvPr>
        </p:nvSpPr>
        <p:spPr/>
        <p:txBody>
          <a:bodyPr/>
          <a:lstStyle/>
          <a:p>
            <a:fld id="{A7594425-C757-EB46-8E6D-7C16DC563656}" type="slidenum">
              <a:rPr lang="es-ES_tradnl" smtClean="0"/>
              <a:pPr/>
              <a:t>‹Nº›</a:t>
            </a:fld>
            <a:endParaRPr lang="es-ES_tradnl" dirty="0"/>
          </a:p>
        </p:txBody>
      </p:sp>
      <p:sp>
        <p:nvSpPr>
          <p:cNvPr id="4" name="Título 3"/>
          <p:cNvSpPr>
            <a:spLocks noGrp="1"/>
          </p:cNvSpPr>
          <p:nvPr>
            <p:ph type="title"/>
          </p:nvPr>
        </p:nvSpPr>
        <p:spPr/>
        <p:txBody>
          <a:bodyPr/>
          <a:lstStyle/>
          <a:p>
            <a:r>
              <a:rPr lang="es-ES"/>
              <a:t>Haga clic para modificar el estilo de título del patrón</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Diseño personaliza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número de diapositiva 2"/>
          <p:cNvSpPr>
            <a:spLocks noGrp="1"/>
          </p:cNvSpPr>
          <p:nvPr>
            <p:ph type="sldNum" sz="quarter" idx="10"/>
          </p:nvPr>
        </p:nvSpPr>
        <p:spPr/>
        <p:txBody>
          <a:bodyPr/>
          <a:lstStyle/>
          <a:p>
            <a:fld id="{A7594425-C757-EB46-8E6D-7C16DC563656}" type="slidenum">
              <a:rPr lang="es-ES_tradnl" smtClean="0"/>
              <a:pPr/>
              <a:t>‹Nº›</a:t>
            </a:fld>
            <a:endParaRPr lang="es-ES_tradnl" dirty="0"/>
          </a:p>
        </p:txBody>
      </p:sp>
    </p:spTree>
    <p:extLst>
      <p:ext uri="{BB962C8B-B14F-4D97-AF65-F5344CB8AC3E}">
        <p14:creationId xmlns:p14="http://schemas.microsoft.com/office/powerpoint/2010/main" val="1908360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número de diapositiva 2"/>
          <p:cNvSpPr>
            <a:spLocks noGrp="1"/>
          </p:cNvSpPr>
          <p:nvPr>
            <p:ph type="sldNum" sz="quarter" idx="10"/>
          </p:nvPr>
        </p:nvSpPr>
        <p:spPr/>
        <p:txBody>
          <a:bodyPr/>
          <a:lstStyle/>
          <a:p>
            <a:fld id="{A7594425-C757-EB46-8E6D-7C16DC563656}" type="slidenum">
              <a:rPr lang="es-ES_tradnl" smtClean="0"/>
              <a:pPr/>
              <a:t>‹Nº›</a:t>
            </a:fld>
            <a:endParaRPr lang="es-ES_tradnl" dirty="0"/>
          </a:p>
        </p:txBody>
      </p:sp>
    </p:spTree>
    <p:extLst>
      <p:ext uri="{BB962C8B-B14F-4D97-AF65-F5344CB8AC3E}">
        <p14:creationId xmlns:p14="http://schemas.microsoft.com/office/powerpoint/2010/main" val="42006218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_tradnl" dirty="0"/>
              <a:t>Haga clic para modificar el estilo de texto del patrón</a:t>
            </a:r>
          </a:p>
        </p:txBody>
      </p:sp>
      <p:sp>
        <p:nvSpPr>
          <p:cNvPr id="6" name="Marcador de número de diapositiva 5"/>
          <p:cNvSpPr>
            <a:spLocks noGrp="1"/>
          </p:cNvSpPr>
          <p:nvPr>
            <p:ph type="sldNum" sz="quarter" idx="12"/>
          </p:nvPr>
        </p:nvSpPr>
        <p:spPr/>
        <p:txBody>
          <a:bodyPr/>
          <a:lstStyle/>
          <a:p>
            <a:fld id="{A7594425-C757-EB46-8E6D-7C16DC563656}" type="slidenum">
              <a:rPr lang="es-ES_tradnl" smtClean="0"/>
              <a:pPr/>
              <a:t>‹Nº›</a:t>
            </a:fld>
            <a:endParaRPr lang="es-ES_tradnl"/>
          </a:p>
        </p:txBody>
      </p:sp>
      <p:sp>
        <p:nvSpPr>
          <p:cNvPr id="7" name="Título 1"/>
          <p:cNvSpPr txBox="1">
            <a:spLocks/>
          </p:cNvSpPr>
          <p:nvPr userDrawn="1"/>
        </p:nvSpPr>
        <p:spPr>
          <a:xfrm>
            <a:off x="722313" y="2438400"/>
            <a:ext cx="8229600" cy="1066800"/>
          </a:xfrm>
          <a:prstGeom prst="rect">
            <a:avLst/>
          </a:prstGeom>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s-ES_tradnl" sz="4000" b="0" i="0" u="none" strike="noStrike" kern="1200" cap="none" spc="0" normalizeH="0" baseline="0" noProof="0" dirty="0">
                <a:ln>
                  <a:noFill/>
                </a:ln>
                <a:solidFill>
                  <a:schemeClr val="tx1">
                    <a:lumMod val="50000"/>
                    <a:lumOff val="50000"/>
                  </a:schemeClr>
                </a:solidFill>
                <a:effectLst/>
                <a:uLnTx/>
                <a:uFillTx/>
                <a:latin typeface="Arial"/>
                <a:ea typeface="+mj-ea"/>
                <a:cs typeface="Arial"/>
              </a:rPr>
              <a:t>Clic para editar título</a:t>
            </a:r>
            <a:endParaRPr kumimoji="0" lang="en-US" sz="4000" b="0" i="0" u="none" strike="noStrike" kern="1200" cap="none" spc="0" normalizeH="0" baseline="0" noProof="0" dirty="0">
              <a:ln>
                <a:noFill/>
              </a:ln>
              <a:solidFill>
                <a:schemeClr val="tx1">
                  <a:lumMod val="50000"/>
                  <a:lumOff val="50000"/>
                </a:schemeClr>
              </a:solidFill>
              <a:effectLst/>
              <a:uLnTx/>
              <a:uFillTx/>
              <a:latin typeface="Arial"/>
              <a:ea typeface="+mj-ea"/>
              <a:cs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a:xfrm>
            <a:off x="457200" y="609600"/>
            <a:ext cx="8229600" cy="1066800"/>
          </a:xfrm>
        </p:spPr>
        <p:txBody>
          <a:bodyPr/>
          <a:lstStyle>
            <a:lvl1pPr>
              <a:defRPr>
                <a:solidFill>
                  <a:schemeClr val="tx1">
                    <a:lumMod val="50000"/>
                    <a:lumOff val="50000"/>
                  </a:schemeClr>
                </a:solidFill>
                <a:latin typeface="Arial"/>
                <a:cs typeface="Arial"/>
              </a:defRPr>
            </a:lvl1pPr>
          </a:lstStyle>
          <a:p>
            <a:r>
              <a:rPr kumimoji="0" lang="es-ES_tradnl" dirty="0"/>
              <a:t>Clic para editar título</a:t>
            </a:r>
            <a:endParaRPr kumimoji="0" lang="en-US" dirty="0"/>
          </a:p>
        </p:txBody>
      </p:sp>
      <p:sp>
        <p:nvSpPr>
          <p:cNvPr id="3" name="Marcador de contenido 2"/>
          <p:cNvSpPr>
            <a:spLocks noGrp="1"/>
          </p:cNvSpPr>
          <p:nvPr>
            <p:ph sz="half" idx="1"/>
          </p:nvPr>
        </p:nvSpPr>
        <p:spPr>
          <a:xfrm>
            <a:off x="457200" y="1524000"/>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s-ES_tradnl"/>
              <a:t>Haga clic para modificar el estilo de texto del patrón</a:t>
            </a:r>
          </a:p>
          <a:p>
            <a:pPr lvl="1" eaLnBrk="1" latinLnBrk="0" hangingPunct="1"/>
            <a:r>
              <a:rPr lang="es-ES_tradnl"/>
              <a:t>Segundo nivel</a:t>
            </a:r>
          </a:p>
          <a:p>
            <a:pPr lvl="2" eaLnBrk="1" latinLnBrk="0" hangingPunct="1"/>
            <a:r>
              <a:rPr lang="es-ES_tradnl"/>
              <a:t>Tercer nivel</a:t>
            </a:r>
          </a:p>
          <a:p>
            <a:pPr lvl="3" eaLnBrk="1" latinLnBrk="0" hangingPunct="1"/>
            <a:r>
              <a:rPr lang="es-ES_tradnl"/>
              <a:t>Cuarto nivel</a:t>
            </a:r>
          </a:p>
          <a:p>
            <a:pPr lvl="4" eaLnBrk="1" latinLnBrk="0" hangingPunct="1"/>
            <a:r>
              <a:rPr lang="es-ES_tradnl"/>
              <a:t>Quinto nivel</a:t>
            </a:r>
            <a:endParaRPr kumimoji="0" lang="en-US"/>
          </a:p>
        </p:txBody>
      </p:sp>
      <p:sp>
        <p:nvSpPr>
          <p:cNvPr id="4" name="Marcador de contenido 3"/>
          <p:cNvSpPr>
            <a:spLocks noGrp="1"/>
          </p:cNvSpPr>
          <p:nvPr>
            <p:ph sz="half" idx="2"/>
          </p:nvPr>
        </p:nvSpPr>
        <p:spPr>
          <a:xfrm>
            <a:off x="4648200" y="1524000"/>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s-ES_tradnl"/>
              <a:t>Haga clic para modificar el estilo de texto del patrón</a:t>
            </a:r>
          </a:p>
          <a:p>
            <a:pPr lvl="1" eaLnBrk="1" latinLnBrk="0" hangingPunct="1"/>
            <a:r>
              <a:rPr lang="es-ES_tradnl"/>
              <a:t>Segundo nivel</a:t>
            </a:r>
          </a:p>
          <a:p>
            <a:pPr lvl="2" eaLnBrk="1" latinLnBrk="0" hangingPunct="1"/>
            <a:r>
              <a:rPr lang="es-ES_tradnl"/>
              <a:t>Tercer nivel</a:t>
            </a:r>
          </a:p>
          <a:p>
            <a:pPr lvl="3" eaLnBrk="1" latinLnBrk="0" hangingPunct="1"/>
            <a:r>
              <a:rPr lang="es-ES_tradnl"/>
              <a:t>Cuarto nivel</a:t>
            </a:r>
          </a:p>
          <a:p>
            <a:pPr lvl="4" eaLnBrk="1" latinLnBrk="0" hangingPunct="1"/>
            <a:r>
              <a:rPr lang="es-ES_tradnl"/>
              <a:t>Quinto nivel</a:t>
            </a:r>
            <a:endParaRPr kumimoji="0" lang="en-US"/>
          </a:p>
        </p:txBody>
      </p:sp>
      <p:sp>
        <p:nvSpPr>
          <p:cNvPr id="7" name="Marcador de número de diapositiva 6"/>
          <p:cNvSpPr>
            <a:spLocks noGrp="1"/>
          </p:cNvSpPr>
          <p:nvPr>
            <p:ph type="sldNum" sz="quarter" idx="12"/>
          </p:nvPr>
        </p:nvSpPr>
        <p:spPr/>
        <p:txBody>
          <a:bodyPr/>
          <a:lstStyle/>
          <a:p>
            <a:fld id="{A7594425-C757-EB46-8E6D-7C16DC563656}" type="slidenum">
              <a:rPr lang="es-ES_tradnl" smtClean="0"/>
              <a:pPr/>
              <a:t>‹Nº›</a:t>
            </a:fld>
            <a:endParaRPr lang="es-ES_tradn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381000" y="606552"/>
            <a:ext cx="8382000" cy="1069848"/>
          </a:xfrm>
        </p:spPr>
        <p:txBody>
          <a:bodyPr anchor="ctr"/>
          <a:lstStyle>
            <a:lvl1pPr>
              <a:defRPr sz="4000" b="0" i="0" cap="none" baseline="0">
                <a:solidFill>
                  <a:schemeClr val="tx1">
                    <a:lumMod val="50000"/>
                    <a:lumOff val="50000"/>
                  </a:schemeClr>
                </a:solidFill>
                <a:latin typeface="Arial"/>
                <a:cs typeface="Arial"/>
              </a:defRPr>
            </a:lvl1pPr>
          </a:lstStyle>
          <a:p>
            <a:r>
              <a:rPr kumimoji="0" lang="es-ES_tradnl" dirty="0"/>
              <a:t>Clic para editar título</a:t>
            </a:r>
            <a:endParaRPr kumimoji="0" lang="en-US" dirty="0"/>
          </a:p>
        </p:txBody>
      </p:sp>
      <p:sp>
        <p:nvSpPr>
          <p:cNvPr id="3" name="Marcador de texto 2"/>
          <p:cNvSpPr>
            <a:spLocks noGrp="1"/>
          </p:cNvSpPr>
          <p:nvPr>
            <p:ph type="body" idx="1"/>
          </p:nvPr>
        </p:nvSpPr>
        <p:spPr>
          <a:xfrm>
            <a:off x="381000" y="175260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_tradnl" dirty="0"/>
              <a:t>Haga clic para modificar el estilo de texto del patrón</a:t>
            </a:r>
          </a:p>
        </p:txBody>
      </p:sp>
      <p:sp>
        <p:nvSpPr>
          <p:cNvPr id="4" name="Marcador de texto 3"/>
          <p:cNvSpPr>
            <a:spLocks noGrp="1"/>
          </p:cNvSpPr>
          <p:nvPr>
            <p:ph type="body" sz="half" idx="3"/>
          </p:nvPr>
        </p:nvSpPr>
        <p:spPr>
          <a:xfrm>
            <a:off x="4721225" y="175260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_tradnl"/>
              <a:t>Haga clic para modificar el estilo de texto del patrón</a:t>
            </a:r>
          </a:p>
        </p:txBody>
      </p:sp>
      <p:sp>
        <p:nvSpPr>
          <p:cNvPr id="5" name="Marcador de contenido 4"/>
          <p:cNvSpPr>
            <a:spLocks noGrp="1"/>
          </p:cNvSpPr>
          <p:nvPr>
            <p:ph sz="quarter" idx="2"/>
          </p:nvPr>
        </p:nvSpPr>
        <p:spPr>
          <a:xfrm>
            <a:off x="381000" y="221614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s-ES_tradnl"/>
              <a:t>Haga clic para modificar el estilo de texto del patrón</a:t>
            </a:r>
          </a:p>
          <a:p>
            <a:pPr lvl="1" eaLnBrk="1" latinLnBrk="0" hangingPunct="1"/>
            <a:r>
              <a:rPr lang="es-ES_tradnl"/>
              <a:t>Segundo nivel</a:t>
            </a:r>
          </a:p>
          <a:p>
            <a:pPr lvl="2" eaLnBrk="1" latinLnBrk="0" hangingPunct="1"/>
            <a:r>
              <a:rPr lang="es-ES_tradnl"/>
              <a:t>Tercer nivel</a:t>
            </a:r>
          </a:p>
          <a:p>
            <a:pPr lvl="3" eaLnBrk="1" latinLnBrk="0" hangingPunct="1"/>
            <a:r>
              <a:rPr lang="es-ES_tradnl"/>
              <a:t>Cuarto nivel</a:t>
            </a:r>
          </a:p>
          <a:p>
            <a:pPr lvl="4" eaLnBrk="1" latinLnBrk="0" hangingPunct="1"/>
            <a:r>
              <a:rPr lang="es-ES_tradnl"/>
              <a:t>Quinto nivel</a:t>
            </a:r>
            <a:endParaRPr kumimoji="0" lang="en-US"/>
          </a:p>
        </p:txBody>
      </p:sp>
      <p:sp>
        <p:nvSpPr>
          <p:cNvPr id="6" name="Marcador de contenido 5"/>
          <p:cNvSpPr>
            <a:spLocks noGrp="1"/>
          </p:cNvSpPr>
          <p:nvPr>
            <p:ph sz="quarter" idx="4"/>
          </p:nvPr>
        </p:nvSpPr>
        <p:spPr>
          <a:xfrm>
            <a:off x="4718304" y="221614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s-ES_tradnl"/>
              <a:t>Haga clic para modificar el estilo de texto del patrón</a:t>
            </a:r>
          </a:p>
          <a:p>
            <a:pPr lvl="1" eaLnBrk="1" latinLnBrk="0" hangingPunct="1"/>
            <a:r>
              <a:rPr lang="es-ES_tradnl"/>
              <a:t>Segundo nivel</a:t>
            </a:r>
          </a:p>
          <a:p>
            <a:pPr lvl="2" eaLnBrk="1" latinLnBrk="0" hangingPunct="1"/>
            <a:r>
              <a:rPr lang="es-ES_tradnl"/>
              <a:t>Tercer nivel</a:t>
            </a:r>
          </a:p>
          <a:p>
            <a:pPr lvl="3" eaLnBrk="1" latinLnBrk="0" hangingPunct="1"/>
            <a:r>
              <a:rPr lang="es-ES_tradnl"/>
              <a:t>Cuarto nivel</a:t>
            </a:r>
          </a:p>
          <a:p>
            <a:pPr lvl="4" eaLnBrk="1" latinLnBrk="0" hangingPunct="1"/>
            <a:r>
              <a:rPr lang="es-ES_tradnl"/>
              <a:t>Quinto nivel</a:t>
            </a:r>
            <a:endParaRPr kumimoji="0" lang="en-US"/>
          </a:p>
        </p:txBody>
      </p:sp>
      <p:sp>
        <p:nvSpPr>
          <p:cNvPr id="27" name="Marcador de número de diapositiva 26"/>
          <p:cNvSpPr>
            <a:spLocks noGrp="1"/>
          </p:cNvSpPr>
          <p:nvPr>
            <p:ph type="sldNum" sz="quarter" idx="11"/>
          </p:nvPr>
        </p:nvSpPr>
        <p:spPr/>
        <p:txBody>
          <a:bodyPr rtlCol="0"/>
          <a:lstStyle/>
          <a:p>
            <a:fld id="{A7594425-C757-EB46-8E6D-7C16DC563656}" type="slidenum">
              <a:rPr lang="es-ES_tradnl" smtClean="0"/>
              <a:pPr/>
              <a:t>‹Nº›</a:t>
            </a:fld>
            <a:endParaRPr lang="es-ES_tradn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0" y="558952"/>
            <a:ext cx="8229600" cy="1069848"/>
          </a:xfrm>
        </p:spPr>
        <p:txBody>
          <a:bodyPr anchor="ctr"/>
          <a:lstStyle>
            <a:lvl1pPr>
              <a:defRPr sz="4000">
                <a:solidFill>
                  <a:schemeClr val="tx1">
                    <a:lumMod val="50000"/>
                    <a:lumOff val="50000"/>
                  </a:schemeClr>
                </a:solidFill>
                <a:latin typeface="Arial"/>
                <a:cs typeface="Arial"/>
              </a:defRPr>
            </a:lvl1pPr>
          </a:lstStyle>
          <a:p>
            <a:r>
              <a:rPr kumimoji="0" lang="es-ES_tradnl" dirty="0"/>
              <a:t>Clic para editar título</a:t>
            </a:r>
            <a:endParaRPr kumimoji="0" lang="en-US" dirty="0"/>
          </a:p>
        </p:txBody>
      </p:sp>
      <p:sp>
        <p:nvSpPr>
          <p:cNvPr id="5" name="Marcador de número de diapositiva 4"/>
          <p:cNvSpPr>
            <a:spLocks noGrp="1"/>
          </p:cNvSpPr>
          <p:nvPr>
            <p:ph type="sldNum" sz="quarter" idx="12"/>
          </p:nvPr>
        </p:nvSpPr>
        <p:spPr>
          <a:xfrm>
            <a:off x="8174736" y="2272"/>
            <a:ext cx="762000" cy="365760"/>
          </a:xfrm>
        </p:spPr>
        <p:txBody>
          <a:bodyPr/>
          <a:lstStyle/>
          <a:p>
            <a:fld id="{A7594425-C757-EB46-8E6D-7C16DC563656}" type="slidenum">
              <a:rPr lang="es-ES_tradnl" smtClean="0"/>
              <a:pPr/>
              <a:t>‹Nº›</a:t>
            </a:fld>
            <a:endParaRPr lang="es-ES_tradnl"/>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A7594425-C757-EB46-8E6D-7C16DC563656}" type="slidenum">
              <a:rPr lang="es-ES_tradnl" smtClean="0"/>
              <a:pPr/>
              <a:t>‹Nº›</a:t>
            </a:fld>
            <a:endParaRPr lang="es-ES_tradnl"/>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5353496" y="533400"/>
            <a:ext cx="3383280" cy="877824"/>
          </a:xfrm>
        </p:spPr>
        <p:txBody>
          <a:bodyPr anchor="b"/>
          <a:lstStyle>
            <a:lvl1pPr algn="l">
              <a:buNone/>
              <a:defRPr sz="1800" b="1">
                <a:solidFill>
                  <a:schemeClr val="tx1">
                    <a:lumMod val="50000"/>
                    <a:lumOff val="50000"/>
                  </a:schemeClr>
                </a:solidFill>
                <a:latin typeface="Arial"/>
                <a:cs typeface="Arial"/>
              </a:defRPr>
            </a:lvl1pPr>
          </a:lstStyle>
          <a:p>
            <a:r>
              <a:rPr kumimoji="0" lang="es-ES_tradnl" dirty="0"/>
              <a:t>Clic para editar título</a:t>
            </a:r>
            <a:endParaRPr kumimoji="0" lang="en-US" dirty="0"/>
          </a:p>
        </p:txBody>
      </p:sp>
      <p:sp>
        <p:nvSpPr>
          <p:cNvPr id="3" name="Marcador de texto 2"/>
          <p:cNvSpPr>
            <a:spLocks noGrp="1"/>
          </p:cNvSpPr>
          <p:nvPr>
            <p:ph type="body" idx="2"/>
          </p:nvPr>
        </p:nvSpPr>
        <p:spPr>
          <a:xfrm>
            <a:off x="5353496" y="144215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s-ES_tradnl"/>
              <a:t>Haga clic para modificar el estilo de texto del patrón</a:t>
            </a:r>
          </a:p>
        </p:txBody>
      </p:sp>
      <p:sp>
        <p:nvSpPr>
          <p:cNvPr id="4" name="Marcador de contenido 3"/>
          <p:cNvSpPr>
            <a:spLocks noGrp="1"/>
          </p:cNvSpPr>
          <p:nvPr>
            <p:ph sz="half" idx="1"/>
          </p:nvPr>
        </p:nvSpPr>
        <p:spPr>
          <a:xfrm>
            <a:off x="152400" y="533400"/>
            <a:ext cx="5102352" cy="5852160"/>
          </a:xfrm>
        </p:spPr>
        <p:txBody>
          <a:bodyPr/>
          <a:lstStyle>
            <a:lvl1pPr>
              <a:defRPr sz="3200">
                <a:solidFill>
                  <a:schemeClr val="tx1">
                    <a:lumMod val="50000"/>
                    <a:lumOff val="50000"/>
                  </a:schemeClr>
                </a:solidFill>
              </a:defRPr>
            </a:lvl1pPr>
            <a:lvl2pPr>
              <a:defRPr sz="2800"/>
            </a:lvl2pPr>
            <a:lvl3pPr>
              <a:defRPr sz="2400"/>
            </a:lvl3pPr>
            <a:lvl4pPr>
              <a:defRPr sz="2000"/>
            </a:lvl4pPr>
            <a:lvl5pPr>
              <a:defRPr sz="2000"/>
            </a:lvl5pPr>
          </a:lstStyle>
          <a:p>
            <a:pPr lvl="0" eaLnBrk="1" latinLnBrk="0" hangingPunct="1"/>
            <a:r>
              <a:rPr lang="es-ES_tradnl" dirty="0"/>
              <a:t>Haga clic para modificar el estilo de texto del patrón</a:t>
            </a:r>
          </a:p>
          <a:p>
            <a:pPr lvl="1" eaLnBrk="1" latinLnBrk="0" hangingPunct="1"/>
            <a:r>
              <a:rPr lang="es-ES_tradnl" dirty="0"/>
              <a:t>Segundo nivel</a:t>
            </a:r>
          </a:p>
          <a:p>
            <a:pPr lvl="2" eaLnBrk="1" latinLnBrk="0" hangingPunct="1"/>
            <a:r>
              <a:rPr lang="es-ES_tradnl" dirty="0"/>
              <a:t>Tercer nivel</a:t>
            </a:r>
          </a:p>
          <a:p>
            <a:pPr lvl="3" eaLnBrk="1" latinLnBrk="0" hangingPunct="1"/>
            <a:r>
              <a:rPr lang="es-ES_tradnl" dirty="0"/>
              <a:t>Cuarto nivel</a:t>
            </a:r>
          </a:p>
          <a:p>
            <a:pPr lvl="4" eaLnBrk="1" latinLnBrk="0" hangingPunct="1"/>
            <a:r>
              <a:rPr lang="es-ES_tradnl" dirty="0"/>
              <a:t>Quinto nivel</a:t>
            </a:r>
            <a:endParaRPr kumimoji="0" lang="en-US" dirty="0"/>
          </a:p>
        </p:txBody>
      </p:sp>
      <p:sp>
        <p:nvSpPr>
          <p:cNvPr id="7" name="Marcador de número de diapositiva 6"/>
          <p:cNvSpPr>
            <a:spLocks noGrp="1"/>
          </p:cNvSpPr>
          <p:nvPr>
            <p:ph type="sldNum" sz="quarter" idx="12"/>
          </p:nvPr>
        </p:nvSpPr>
        <p:spPr/>
        <p:txBody>
          <a:bodyPr/>
          <a:lstStyle/>
          <a:p>
            <a:fld id="{A7594425-C757-EB46-8E6D-7C16DC563656}" type="slidenum">
              <a:rPr lang="es-ES_tradnl" smtClean="0"/>
              <a:pPr/>
              <a:t>‹Nº›</a:t>
            </a:fld>
            <a:endParaRPr lang="es-ES_tradnl"/>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5440434" y="1109160"/>
            <a:ext cx="586803" cy="4681637"/>
          </a:xfrm>
        </p:spPr>
        <p:txBody>
          <a:bodyPr vert="vert270" lIns="45720" tIns="0" rIns="45720" anchor="t"/>
          <a:lstStyle>
            <a:lvl1pPr algn="ctr">
              <a:buNone/>
              <a:defRPr sz="2000" b="0">
                <a:solidFill>
                  <a:schemeClr val="tx1">
                    <a:lumMod val="50000"/>
                    <a:lumOff val="50000"/>
                  </a:schemeClr>
                </a:solidFill>
                <a:latin typeface="Arial"/>
                <a:cs typeface="Arial"/>
              </a:defRPr>
            </a:lvl1pPr>
          </a:lstStyle>
          <a:p>
            <a:r>
              <a:rPr kumimoji="0" lang="es-ES_tradnl" dirty="0"/>
              <a:t>Clic para editar título</a:t>
            </a:r>
            <a:endParaRPr kumimoji="0" lang="en-US" dirty="0"/>
          </a:p>
        </p:txBody>
      </p:sp>
      <p:sp>
        <p:nvSpPr>
          <p:cNvPr id="3" name="Marcador de posición de imagen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solidFill>
                  <a:schemeClr val="tx1">
                    <a:lumMod val="50000"/>
                    <a:lumOff val="50000"/>
                  </a:schemeClr>
                </a:solidFill>
                <a:latin typeface="Arial"/>
                <a:cs typeface="Arial"/>
              </a:defRPr>
            </a:lvl1pPr>
          </a:lstStyle>
          <a:p>
            <a:r>
              <a:rPr kumimoji="0" lang="es-ES_tradnl" dirty="0"/>
              <a:t>Haga clic en el icono para agregar una imagen</a:t>
            </a:r>
            <a:endParaRPr kumimoji="0" lang="en-US" dirty="0"/>
          </a:p>
        </p:txBody>
      </p:sp>
      <p:sp>
        <p:nvSpPr>
          <p:cNvPr id="4" name="Marcador de texto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atin typeface="Arial"/>
                <a:cs typeface="Arial"/>
              </a:defRPr>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s-ES_tradnl" dirty="0"/>
              <a:t>Haga clic para modificar el estilo de texto del patrón</a:t>
            </a:r>
          </a:p>
        </p:txBody>
      </p:sp>
      <p:sp>
        <p:nvSpPr>
          <p:cNvPr id="7" name="Marcador de número de diapositiva 6"/>
          <p:cNvSpPr>
            <a:spLocks noGrp="1"/>
          </p:cNvSpPr>
          <p:nvPr>
            <p:ph type="sldNum" sz="quarter" idx="12"/>
          </p:nvPr>
        </p:nvSpPr>
        <p:spPr/>
        <p:txBody>
          <a:bodyPr/>
          <a:lstStyle/>
          <a:p>
            <a:fld id="{A7594425-C757-EB46-8E6D-7C16DC563656}" type="slidenum">
              <a:rPr lang="es-ES_tradnl" smtClean="0"/>
              <a:pPr/>
              <a:t>‹Nº›</a:t>
            </a:fld>
            <a:endParaRPr lang="es-ES_tradnl"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_Diapositiva de título">
    <p:spTree>
      <p:nvGrpSpPr>
        <p:cNvPr id="1" name=""/>
        <p:cNvGrpSpPr/>
        <p:nvPr/>
      </p:nvGrpSpPr>
      <p:grpSpPr>
        <a:xfrm>
          <a:off x="0" y="0"/>
          <a:ext cx="0" cy="0"/>
          <a:chOff x="0" y="0"/>
          <a:chExt cx="0" cy="0"/>
        </a:xfrm>
      </p:grpSpPr>
      <p:pic>
        <p:nvPicPr>
          <p:cNvPr id="5" name="Imagen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6" name="Imagen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664868" y="5517232"/>
            <a:ext cx="952589" cy="90872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143000" y="1122363"/>
            <a:ext cx="6858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8FA82399-3397-41E5-A7B4-67EDFEB0AA84}" type="datetimeFigureOut">
              <a:rPr lang="es-ES" smtClean="0"/>
              <a:t>26/05/2026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4F944DB6-AC8A-4D40-9753-507BB525FD11}" type="slidenum">
              <a:rPr lang="es-ES" smtClean="0"/>
              <a:t>‹Nº›</a:t>
            </a:fld>
            <a:endParaRPr lang="es-ES"/>
          </a:p>
        </p:txBody>
      </p:sp>
    </p:spTree>
    <p:extLst>
      <p:ext uri="{BB962C8B-B14F-4D97-AF65-F5344CB8AC3E}">
        <p14:creationId xmlns:p14="http://schemas.microsoft.com/office/powerpoint/2010/main" val="30460021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8FA82399-3397-41E5-A7B4-67EDFEB0AA84}" type="datetimeFigureOut">
              <a:rPr lang="es-ES" smtClean="0"/>
              <a:t>26/05/2026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4F944DB6-AC8A-4D40-9753-507BB525FD11}" type="slidenum">
              <a:rPr lang="es-ES" smtClean="0"/>
              <a:t>‹Nº›</a:t>
            </a:fld>
            <a:endParaRPr lang="es-ES"/>
          </a:p>
        </p:txBody>
      </p:sp>
    </p:spTree>
    <p:extLst>
      <p:ext uri="{BB962C8B-B14F-4D97-AF65-F5344CB8AC3E}">
        <p14:creationId xmlns:p14="http://schemas.microsoft.com/office/powerpoint/2010/main" val="30543246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623888" y="1709738"/>
            <a:ext cx="78867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8FA82399-3397-41E5-A7B4-67EDFEB0AA84}" type="datetimeFigureOut">
              <a:rPr lang="es-ES" smtClean="0"/>
              <a:t>26/05/2026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4F944DB6-AC8A-4D40-9753-507BB525FD11}" type="slidenum">
              <a:rPr lang="es-ES" smtClean="0"/>
              <a:t>‹Nº›</a:t>
            </a:fld>
            <a:endParaRPr lang="es-ES"/>
          </a:p>
        </p:txBody>
      </p:sp>
    </p:spTree>
    <p:extLst>
      <p:ext uri="{BB962C8B-B14F-4D97-AF65-F5344CB8AC3E}">
        <p14:creationId xmlns:p14="http://schemas.microsoft.com/office/powerpoint/2010/main" val="10274895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628650" y="1825625"/>
            <a:ext cx="386715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4648200" y="1825625"/>
            <a:ext cx="386715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8FA82399-3397-41E5-A7B4-67EDFEB0AA84}" type="datetimeFigureOut">
              <a:rPr lang="es-ES" smtClean="0"/>
              <a:t>26/05/2026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4F944DB6-AC8A-4D40-9753-507BB525FD11}" type="slidenum">
              <a:rPr lang="es-ES" smtClean="0"/>
              <a:t>‹Nº›</a:t>
            </a:fld>
            <a:endParaRPr lang="es-ES"/>
          </a:p>
        </p:txBody>
      </p:sp>
    </p:spTree>
    <p:extLst>
      <p:ext uri="{BB962C8B-B14F-4D97-AF65-F5344CB8AC3E}">
        <p14:creationId xmlns:p14="http://schemas.microsoft.com/office/powerpoint/2010/main" val="5702310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630238" y="365125"/>
            <a:ext cx="78867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630238" y="2505075"/>
            <a:ext cx="386873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4629150" y="2505075"/>
            <a:ext cx="38877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8FA82399-3397-41E5-A7B4-67EDFEB0AA84}" type="datetimeFigureOut">
              <a:rPr lang="es-ES" smtClean="0"/>
              <a:t>26/05/2026</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4F944DB6-AC8A-4D40-9753-507BB525FD11}" type="slidenum">
              <a:rPr lang="es-ES" smtClean="0"/>
              <a:t>‹Nº›</a:t>
            </a:fld>
            <a:endParaRPr lang="es-ES"/>
          </a:p>
        </p:txBody>
      </p:sp>
    </p:spTree>
    <p:extLst>
      <p:ext uri="{BB962C8B-B14F-4D97-AF65-F5344CB8AC3E}">
        <p14:creationId xmlns:p14="http://schemas.microsoft.com/office/powerpoint/2010/main" val="15851674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8FA82399-3397-41E5-A7B4-67EDFEB0AA84}" type="datetimeFigureOut">
              <a:rPr lang="es-ES" smtClean="0"/>
              <a:t>26/05/2026</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4F944DB6-AC8A-4D40-9753-507BB525FD11}" type="slidenum">
              <a:rPr lang="es-ES" smtClean="0"/>
              <a:t>‹Nº›</a:t>
            </a:fld>
            <a:endParaRPr lang="es-ES"/>
          </a:p>
        </p:txBody>
      </p:sp>
    </p:spTree>
    <p:extLst>
      <p:ext uri="{BB962C8B-B14F-4D97-AF65-F5344CB8AC3E}">
        <p14:creationId xmlns:p14="http://schemas.microsoft.com/office/powerpoint/2010/main" val="8070074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8FA82399-3397-41E5-A7B4-67EDFEB0AA84}" type="datetimeFigureOut">
              <a:rPr lang="es-ES" smtClean="0"/>
              <a:t>26/05/2026</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4F944DB6-AC8A-4D40-9753-507BB525FD11}" type="slidenum">
              <a:rPr lang="es-ES" smtClean="0"/>
              <a:t>‹Nº›</a:t>
            </a:fld>
            <a:endParaRPr lang="es-ES"/>
          </a:p>
        </p:txBody>
      </p:sp>
    </p:spTree>
    <p:extLst>
      <p:ext uri="{BB962C8B-B14F-4D97-AF65-F5344CB8AC3E}">
        <p14:creationId xmlns:p14="http://schemas.microsoft.com/office/powerpoint/2010/main" val="1086098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630238" y="457200"/>
            <a:ext cx="2949575"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8FA82399-3397-41E5-A7B4-67EDFEB0AA84}" type="datetimeFigureOut">
              <a:rPr lang="es-ES" smtClean="0"/>
              <a:t>26/05/2026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4F944DB6-AC8A-4D40-9753-507BB525FD11}" type="slidenum">
              <a:rPr lang="es-ES" smtClean="0"/>
              <a:t>‹Nº›</a:t>
            </a:fld>
            <a:endParaRPr lang="es-ES"/>
          </a:p>
        </p:txBody>
      </p:sp>
    </p:spTree>
    <p:extLst>
      <p:ext uri="{BB962C8B-B14F-4D97-AF65-F5344CB8AC3E}">
        <p14:creationId xmlns:p14="http://schemas.microsoft.com/office/powerpoint/2010/main" val="17147797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630238" y="457200"/>
            <a:ext cx="2949575"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8FA82399-3397-41E5-A7B4-67EDFEB0AA84}" type="datetimeFigureOut">
              <a:rPr lang="es-ES" smtClean="0"/>
              <a:t>26/05/2026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4F944DB6-AC8A-4D40-9753-507BB525FD11}" type="slidenum">
              <a:rPr lang="es-ES" smtClean="0"/>
              <a:t>‹Nº›</a:t>
            </a:fld>
            <a:endParaRPr lang="es-ES"/>
          </a:p>
        </p:txBody>
      </p:sp>
    </p:spTree>
    <p:extLst>
      <p:ext uri="{BB962C8B-B14F-4D97-AF65-F5344CB8AC3E}">
        <p14:creationId xmlns:p14="http://schemas.microsoft.com/office/powerpoint/2010/main" val="29285156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8FA82399-3397-41E5-A7B4-67EDFEB0AA84}" type="datetimeFigureOut">
              <a:rPr lang="es-ES" smtClean="0"/>
              <a:t>26/05/2026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4F944DB6-AC8A-4D40-9753-507BB525FD11}" type="slidenum">
              <a:rPr lang="es-ES" smtClean="0"/>
              <a:t>‹Nº›</a:t>
            </a:fld>
            <a:endParaRPr lang="es-ES"/>
          </a:p>
        </p:txBody>
      </p:sp>
    </p:spTree>
    <p:extLst>
      <p:ext uri="{BB962C8B-B14F-4D97-AF65-F5344CB8AC3E}">
        <p14:creationId xmlns:p14="http://schemas.microsoft.com/office/powerpoint/2010/main" val="12033731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543675" y="365125"/>
            <a:ext cx="1971675"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628650" y="365125"/>
            <a:ext cx="5762625"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8FA82399-3397-41E5-A7B4-67EDFEB0AA84}" type="datetimeFigureOut">
              <a:rPr lang="es-ES" smtClean="0"/>
              <a:t>26/05/2026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4F944DB6-AC8A-4D40-9753-507BB525FD11}" type="slidenum">
              <a:rPr lang="es-ES" smtClean="0"/>
              <a:t>‹Nº›</a:t>
            </a:fld>
            <a:endParaRPr lang="es-ES"/>
          </a:p>
        </p:txBody>
      </p:sp>
    </p:spTree>
    <p:extLst>
      <p:ext uri="{BB962C8B-B14F-4D97-AF65-F5344CB8AC3E}">
        <p14:creationId xmlns:p14="http://schemas.microsoft.com/office/powerpoint/2010/main" val="1888320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9" name="Rectángulo 28"/>
          <p:cNvSpPr/>
          <p:nvPr userDrawn="1"/>
        </p:nvSpPr>
        <p:spPr>
          <a:xfrm>
            <a:off x="8077200" y="0"/>
            <a:ext cx="1066800" cy="550862"/>
          </a:xfrm>
          <a:prstGeom prst="rect">
            <a:avLst/>
          </a:prstGeom>
          <a:solidFill>
            <a:srgbClr val="3F235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ectángulo redondeado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Marcador de título 21"/>
          <p:cNvSpPr>
            <a:spLocks noGrp="1"/>
          </p:cNvSpPr>
          <p:nvPr>
            <p:ph type="title"/>
          </p:nvPr>
        </p:nvSpPr>
        <p:spPr>
          <a:xfrm>
            <a:off x="457200" y="562000"/>
            <a:ext cx="8229600" cy="1066800"/>
          </a:xfrm>
          <a:prstGeom prst="rect">
            <a:avLst/>
          </a:prstGeom>
        </p:spPr>
        <p:txBody>
          <a:bodyPr vert="horz" anchor="ctr">
            <a:normAutofit/>
          </a:bodyPr>
          <a:lstStyle/>
          <a:p>
            <a:r>
              <a:rPr kumimoji="0" lang="es-ES_tradnl" dirty="0"/>
              <a:t>Clic para editar título</a:t>
            </a:r>
            <a:endParaRPr kumimoji="0" lang="en-US" dirty="0"/>
          </a:p>
        </p:txBody>
      </p:sp>
      <p:sp>
        <p:nvSpPr>
          <p:cNvPr id="13" name="Marcador de texto 12"/>
          <p:cNvSpPr>
            <a:spLocks noGrp="1"/>
          </p:cNvSpPr>
          <p:nvPr>
            <p:ph type="body" idx="1"/>
          </p:nvPr>
        </p:nvSpPr>
        <p:spPr>
          <a:xfrm>
            <a:off x="457200" y="1542288"/>
            <a:ext cx="8229600" cy="4325112"/>
          </a:xfrm>
          <a:prstGeom prst="rect">
            <a:avLst/>
          </a:prstGeom>
        </p:spPr>
        <p:txBody>
          <a:bodyPr vert="horz">
            <a:normAutofit/>
          </a:bodyPr>
          <a:lstStyle/>
          <a:p>
            <a:pPr lvl="0" eaLnBrk="1" latinLnBrk="0" hangingPunct="1"/>
            <a:r>
              <a:rPr kumimoji="0" lang="es-ES_tradnl" dirty="0"/>
              <a:t>Haga clic para modificar el estilo de texto del patrón</a:t>
            </a:r>
          </a:p>
          <a:p>
            <a:pPr lvl="1" eaLnBrk="1" latinLnBrk="0" hangingPunct="1"/>
            <a:r>
              <a:rPr kumimoji="0" lang="es-ES_tradnl" dirty="0"/>
              <a:t>Segundo nivel</a:t>
            </a:r>
          </a:p>
          <a:p>
            <a:pPr lvl="2" eaLnBrk="1" latinLnBrk="0" hangingPunct="1"/>
            <a:r>
              <a:rPr kumimoji="0" lang="es-ES_tradnl" dirty="0"/>
              <a:t>Tercer nivel</a:t>
            </a:r>
          </a:p>
          <a:p>
            <a:pPr lvl="3" eaLnBrk="1" latinLnBrk="0" hangingPunct="1"/>
            <a:r>
              <a:rPr kumimoji="0" lang="es-ES_tradnl" dirty="0"/>
              <a:t>Cuarto nivel</a:t>
            </a:r>
          </a:p>
          <a:p>
            <a:pPr lvl="4" eaLnBrk="1" latinLnBrk="0" hangingPunct="1"/>
            <a:r>
              <a:rPr kumimoji="0" lang="es-ES_tradnl" dirty="0"/>
              <a:t>Quinto nivel</a:t>
            </a:r>
            <a:endParaRPr kumimoji="0" lang="en-US" dirty="0"/>
          </a:p>
        </p:txBody>
      </p:sp>
      <p:sp>
        <p:nvSpPr>
          <p:cNvPr id="23" name="Marcador de número de diapositiva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latin typeface="Arial"/>
                <a:cs typeface="Arial"/>
              </a:defRPr>
            </a:lvl1pPr>
          </a:lstStyle>
          <a:p>
            <a:fld id="{A7594425-C757-EB46-8E6D-7C16DC563656}" type="slidenum">
              <a:rPr lang="es-ES_tradnl" smtClean="0"/>
              <a:pPr/>
              <a:t>‹Nº›</a:t>
            </a:fld>
            <a:endParaRPr lang="es-ES_tradnl" dirty="0"/>
          </a:p>
        </p:txBody>
      </p:sp>
      <p:sp>
        <p:nvSpPr>
          <p:cNvPr id="20" name="Rectángulo 19"/>
          <p:cNvSpPr/>
          <p:nvPr userDrawn="1"/>
        </p:nvSpPr>
        <p:spPr>
          <a:xfrm>
            <a:off x="6477000" y="0"/>
            <a:ext cx="1600200" cy="550862"/>
          </a:xfrm>
          <a:prstGeom prst="rect">
            <a:avLst/>
          </a:prstGeom>
          <a:solidFill>
            <a:srgbClr val="63226E"/>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1" name="Rectángulo 20"/>
          <p:cNvSpPr/>
          <p:nvPr userDrawn="1"/>
        </p:nvSpPr>
        <p:spPr>
          <a:xfrm>
            <a:off x="0" y="0"/>
            <a:ext cx="6477000" cy="550862"/>
          </a:xfrm>
          <a:prstGeom prst="rect">
            <a:avLst/>
          </a:prstGeom>
          <a:solidFill>
            <a:srgbClr val="9F488C"/>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ángulo 24"/>
          <p:cNvSpPr/>
          <p:nvPr userDrawn="1"/>
        </p:nvSpPr>
        <p:spPr>
          <a:xfrm>
            <a:off x="0" y="6269057"/>
            <a:ext cx="9144000" cy="588943"/>
          </a:xfrm>
          <a:prstGeom prst="rect">
            <a:avLst/>
          </a:prstGeom>
          <a:solidFill>
            <a:srgbClr val="3F235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CuadroTexto 23"/>
          <p:cNvSpPr txBox="1"/>
          <p:nvPr userDrawn="1"/>
        </p:nvSpPr>
        <p:spPr>
          <a:xfrm>
            <a:off x="457200" y="180201"/>
            <a:ext cx="4191000" cy="276999"/>
          </a:xfrm>
          <a:prstGeom prst="rect">
            <a:avLst/>
          </a:prstGeom>
          <a:noFill/>
        </p:spPr>
        <p:txBody>
          <a:bodyPr wrap="square" rtlCol="0">
            <a:spAutoFit/>
          </a:bodyPr>
          <a:lstStyle/>
          <a:p>
            <a:r>
              <a:rPr lang="es-ES_tradnl" sz="1200" b="1" dirty="0">
                <a:solidFill>
                  <a:schemeClr val="bg1"/>
                </a:solidFill>
              </a:rPr>
              <a:t>CÁLCULO DE OBRA EN CURSO</a:t>
            </a:r>
            <a:endParaRPr lang="es-ES_tradnl" sz="1200" b="1" cap="all" dirty="0">
              <a:solidFill>
                <a:schemeClr val="bg1"/>
              </a:solidFill>
              <a:latin typeface="Arial"/>
              <a:cs typeface="Arial"/>
            </a:endParaRPr>
          </a:p>
        </p:txBody>
      </p:sp>
      <p:pic>
        <p:nvPicPr>
          <p:cNvPr id="16" name="Imagen 15" descr="Sabico_SEGURIDAD_L_1T_White.png"/>
          <p:cNvPicPr>
            <a:picLocks noChangeAspect="1"/>
          </p:cNvPicPr>
          <p:nvPr userDrawn="1"/>
        </p:nvPicPr>
        <p:blipFill>
          <a:blip r:embed="rId17"/>
          <a:stretch>
            <a:fillRect/>
          </a:stretch>
        </p:blipFill>
        <p:spPr>
          <a:xfrm>
            <a:off x="467544" y="6382738"/>
            <a:ext cx="3096344" cy="35934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63" r:id="rId6"/>
    <p:sldLayoutId id="2147483662"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Lst>
  <p:txStyles>
    <p:titleStyle>
      <a:lvl1pPr algn="l" rtl="0" eaLnBrk="1" latinLnBrk="0" hangingPunct="1">
        <a:spcBef>
          <a:spcPct val="0"/>
        </a:spcBef>
        <a:buNone/>
        <a:defRPr kumimoji="0" sz="4000" kern="1200">
          <a:solidFill>
            <a:schemeClr val="tx1">
              <a:lumMod val="50000"/>
              <a:lumOff val="50000"/>
            </a:schemeClr>
          </a:solidFill>
          <a:latin typeface="Arial"/>
          <a:ea typeface="+mj-ea"/>
          <a:cs typeface="Arial"/>
        </a:defRPr>
      </a:lvl1pPr>
    </p:titleStyle>
    <p:bodyStyle>
      <a:lvl1pPr marL="365760" indent="-256032" algn="l" rtl="0" eaLnBrk="1" latinLnBrk="0" hangingPunct="1">
        <a:spcBef>
          <a:spcPts val="300"/>
        </a:spcBef>
        <a:buClrTx/>
        <a:buFont typeface="Georgia"/>
        <a:buChar char="•"/>
        <a:defRPr kumimoji="0" sz="2800" kern="1200">
          <a:solidFill>
            <a:schemeClr val="tx1"/>
          </a:solidFill>
          <a:latin typeface="Arial"/>
          <a:ea typeface="+mn-ea"/>
          <a:cs typeface="Arial"/>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Arial"/>
          <a:ea typeface="+mn-ea"/>
          <a:cs typeface="Arial"/>
        </a:defRPr>
      </a:lvl2pPr>
      <a:lvl3pPr marL="923544" indent="-219456" algn="l" rtl="0" eaLnBrk="1" latinLnBrk="0" hangingPunct="1">
        <a:spcBef>
          <a:spcPts val="300"/>
        </a:spcBef>
        <a:buClrTx/>
        <a:buFont typeface="Wingdings 2"/>
        <a:buChar char=""/>
        <a:defRPr kumimoji="0" sz="2400" kern="1200">
          <a:solidFill>
            <a:srgbClr val="56BC8A"/>
          </a:solidFill>
          <a:latin typeface="Arial"/>
          <a:ea typeface="+mn-ea"/>
          <a:cs typeface="Arial"/>
        </a:defRPr>
      </a:lvl3pPr>
      <a:lvl4pPr marL="1179576" indent="-201168" algn="l" rtl="0" eaLnBrk="1" latinLnBrk="0" hangingPunct="1">
        <a:spcBef>
          <a:spcPts val="300"/>
        </a:spcBef>
        <a:buClrTx/>
        <a:buFont typeface="Wingdings 2"/>
        <a:buChar char=""/>
        <a:defRPr kumimoji="0" sz="2200" kern="1200">
          <a:solidFill>
            <a:srgbClr val="156D8A"/>
          </a:solidFill>
          <a:latin typeface="Arial"/>
          <a:ea typeface="+mn-ea"/>
          <a:cs typeface="Arial"/>
        </a:defRPr>
      </a:lvl4pPr>
      <a:lvl5pPr marL="1389888" indent="-182880" algn="l" rtl="0" eaLnBrk="1" latinLnBrk="0" hangingPunct="1">
        <a:spcBef>
          <a:spcPts val="300"/>
        </a:spcBef>
        <a:buClr>
          <a:srgbClr val="4664A3"/>
        </a:buClr>
        <a:buFont typeface="Georgia"/>
        <a:buChar char="▫"/>
        <a:defRPr kumimoji="0" sz="2000" kern="1200">
          <a:solidFill>
            <a:srgbClr val="4664A3"/>
          </a:solidFill>
          <a:latin typeface="Arial"/>
          <a:ea typeface="+mn-ea"/>
          <a:cs typeface="Arial"/>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A82399-3397-41E5-A7B4-67EDFEB0AA84}" type="datetimeFigureOut">
              <a:rPr lang="es-ES" smtClean="0"/>
              <a:t>26/05/2026</a:t>
            </a:fld>
            <a:endParaRPr lang="es-ES"/>
          </a:p>
        </p:txBody>
      </p:sp>
      <p:sp>
        <p:nvSpPr>
          <p:cNvPr id="5" name="Marcador de pie de página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944DB6-AC8A-4D40-9753-507BB525FD11}" type="slidenum">
              <a:rPr lang="es-ES" smtClean="0"/>
              <a:t>‹Nº›</a:t>
            </a:fld>
            <a:endParaRPr lang="es-ES"/>
          </a:p>
        </p:txBody>
      </p:sp>
    </p:spTree>
    <p:extLst>
      <p:ext uri="{BB962C8B-B14F-4D97-AF65-F5344CB8AC3E}">
        <p14:creationId xmlns:p14="http://schemas.microsoft.com/office/powerpoint/2010/main" val="3495185009"/>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ítulo 1"/>
          <p:cNvSpPr>
            <a:spLocks noGrp="1"/>
          </p:cNvSpPr>
          <p:nvPr>
            <p:ph type="subTitle" idx="1"/>
          </p:nvPr>
        </p:nvSpPr>
        <p:spPr/>
        <p:txBody>
          <a:bodyPr/>
          <a:lstStyle/>
          <a:p>
            <a:r>
              <a:rPr lang="es-ES_tradnl" dirty="0"/>
              <a:t>Cálculo de Obra en Curso</a:t>
            </a:r>
          </a:p>
          <a:p>
            <a:endParaRPr lang="es-ES_tradnl" dirty="0"/>
          </a:p>
          <a:p>
            <a:r>
              <a:rPr lang="es-ES_tradnl" dirty="0"/>
              <a:t>9/11/2023</a:t>
            </a:r>
          </a:p>
        </p:txBody>
      </p:sp>
      <p:sp>
        <p:nvSpPr>
          <p:cNvPr id="3" name="Subtítulo 139"/>
          <p:cNvSpPr txBox="1">
            <a:spLocks/>
          </p:cNvSpPr>
          <p:nvPr/>
        </p:nvSpPr>
        <p:spPr>
          <a:xfrm>
            <a:off x="457200" y="6400800"/>
            <a:ext cx="6477000" cy="609600"/>
          </a:xfrm>
          <a:prstGeom prst="rect">
            <a:avLst/>
          </a:prstGeom>
        </p:spPr>
        <p:txBody>
          <a:bodyPr vert="horz">
            <a:normAutofit/>
          </a:bodyPr>
          <a:lstStyle/>
          <a:p>
            <a:pPr marL="64008" marR="0" lvl="0" indent="0" algn="l" defTabSz="914400" rtl="0" eaLnBrk="1" fontAlgn="auto" latinLnBrk="0" hangingPunct="1">
              <a:lnSpc>
                <a:spcPct val="100000"/>
              </a:lnSpc>
              <a:spcBef>
                <a:spcPts val="300"/>
              </a:spcBef>
              <a:spcAft>
                <a:spcPts val="0"/>
              </a:spcAft>
              <a:buClrTx/>
              <a:buSzTx/>
              <a:buFont typeface="Georgia"/>
              <a:buNone/>
              <a:tabLst/>
              <a:defRPr/>
            </a:pPr>
            <a:r>
              <a:rPr kumimoji="0" lang="es-ES_tradnl" sz="1600" b="1" i="0" u="none" strike="noStrike" kern="1200" cap="none" spc="0" normalizeH="0" baseline="0" noProof="0" dirty="0">
                <a:ln>
                  <a:noFill/>
                </a:ln>
                <a:solidFill>
                  <a:schemeClr val="bg1"/>
                </a:solidFill>
                <a:effectLst/>
                <a:uLnTx/>
                <a:uFillTx/>
                <a:latin typeface="Arial"/>
                <a:ea typeface="+mn-ea"/>
                <a:cs typeface="Arial"/>
              </a:rPr>
              <a:t>www.sabico.com</a:t>
            </a:r>
            <a:r>
              <a:rPr kumimoji="0" lang="es-ES_tradnl" sz="1600" b="0" i="0" u="none" strike="noStrike" kern="1200" cap="none" spc="0" normalizeH="0" baseline="0" noProof="0" dirty="0">
                <a:ln>
                  <a:noFill/>
                </a:ln>
                <a:solidFill>
                  <a:schemeClr val="bg1"/>
                </a:solidFill>
                <a:effectLst/>
                <a:uLnTx/>
                <a:uFillTx/>
                <a:latin typeface="Arial"/>
                <a:ea typeface="+mn-ea"/>
                <a:cs typeface="Arial"/>
              </a:rPr>
              <a:t> · 902 222 224</a:t>
            </a:r>
          </a:p>
        </p:txBody>
      </p:sp>
    </p:spTree>
    <p:extLst>
      <p:ext uri="{BB962C8B-B14F-4D97-AF65-F5344CB8AC3E}">
        <p14:creationId xmlns:p14="http://schemas.microsoft.com/office/powerpoint/2010/main" val="20348692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457200" y="404664"/>
            <a:ext cx="8229600" cy="1066800"/>
          </a:xfrm>
        </p:spPr>
        <p:txBody>
          <a:bodyPr>
            <a:normAutofit/>
          </a:bodyPr>
          <a:lstStyle/>
          <a:p>
            <a:r>
              <a:rPr lang="es-ES" dirty="0"/>
              <a:t>Obra en Curso</a:t>
            </a:r>
          </a:p>
        </p:txBody>
      </p:sp>
      <p:sp>
        <p:nvSpPr>
          <p:cNvPr id="5" name="CuadroTexto 4"/>
          <p:cNvSpPr txBox="1"/>
          <p:nvPr/>
        </p:nvSpPr>
        <p:spPr>
          <a:xfrm>
            <a:off x="251520" y="1124744"/>
            <a:ext cx="8712968" cy="558665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s-ES" sz="1600" dirty="0"/>
              <a:t>La Obra en Curso ajusta el ingreso y el beneficio que nos damos en la Contabilidad por el proyecto para que responda al avance de la Obra. </a:t>
            </a:r>
          </a:p>
          <a:p>
            <a:pPr marL="285750" indent="-285750">
              <a:lnSpc>
                <a:spcPct val="150000"/>
              </a:lnSpc>
              <a:buFont typeface="Arial" panose="020B0604020202020204" pitchFamily="34" charset="0"/>
              <a:buChar char="•"/>
            </a:pPr>
            <a:r>
              <a:rPr lang="es-ES" sz="1600" dirty="0"/>
              <a:t>Permite tener el margen mensual en la Obra aunque no se haya facturado o aunque se haya facturado anticipadamente.</a:t>
            </a:r>
          </a:p>
          <a:p>
            <a:pPr marL="285750" indent="-285750">
              <a:lnSpc>
                <a:spcPct val="150000"/>
              </a:lnSpc>
              <a:buFont typeface="Arial" panose="020B0604020202020204" pitchFamily="34" charset="0"/>
              <a:buChar char="•"/>
            </a:pPr>
            <a:r>
              <a:rPr lang="es-ES" sz="1600" dirty="0"/>
              <a:t>Se basa en:</a:t>
            </a:r>
          </a:p>
          <a:p>
            <a:pPr marL="742950" lvl="1" indent="-285750">
              <a:lnSpc>
                <a:spcPct val="150000"/>
              </a:lnSpc>
              <a:buFont typeface="Arial" panose="020B0604020202020204" pitchFamily="34" charset="0"/>
              <a:buChar char="•"/>
            </a:pPr>
            <a:r>
              <a:rPr lang="es-ES" sz="1600" dirty="0"/>
              <a:t>Los datos de Previstos del proyecto: si están mal se calcula mal.</a:t>
            </a:r>
          </a:p>
          <a:p>
            <a:pPr marL="742950" lvl="1" indent="-285750">
              <a:lnSpc>
                <a:spcPct val="150000"/>
              </a:lnSpc>
              <a:buFont typeface="Arial" panose="020B0604020202020204" pitchFamily="34" charset="0"/>
              <a:buChar char="•"/>
            </a:pPr>
            <a:r>
              <a:rPr lang="es-ES" sz="1600" dirty="0"/>
              <a:t>Los gastos totales incurridos hasta el momento.</a:t>
            </a:r>
          </a:p>
          <a:p>
            <a:pPr marL="742950" lvl="1" indent="-285750">
              <a:lnSpc>
                <a:spcPct val="150000"/>
              </a:lnSpc>
              <a:buFont typeface="Arial" panose="020B0604020202020204" pitchFamily="34" charset="0"/>
              <a:buChar char="•"/>
            </a:pPr>
            <a:r>
              <a:rPr lang="es-ES" sz="1600" dirty="0"/>
              <a:t>Lo presupuestado e incurrido para MOD.</a:t>
            </a:r>
          </a:p>
          <a:p>
            <a:pPr marL="742950" lvl="1" indent="-285750">
              <a:lnSpc>
                <a:spcPct val="150000"/>
              </a:lnSpc>
              <a:buFont typeface="Arial" panose="020B0604020202020204" pitchFamily="34" charset="0"/>
              <a:buChar char="•"/>
            </a:pPr>
            <a:r>
              <a:rPr lang="es-ES" sz="1600" dirty="0"/>
              <a:t>Lo presupuestado e incurrido para MOD subcontratada. Se considera MOD Subcontratada lo que va con el artículo 0000025000. Si está correcto se calcula  mal.</a:t>
            </a:r>
          </a:p>
          <a:p>
            <a:pPr marL="285750" indent="-285750">
              <a:lnSpc>
                <a:spcPct val="150000"/>
              </a:lnSpc>
              <a:buFont typeface="Arial" panose="020B0604020202020204" pitchFamily="34" charset="0"/>
              <a:buChar char="•"/>
            </a:pPr>
            <a:r>
              <a:rPr lang="es-ES" sz="1600" dirty="0"/>
              <a:t>Lo que se contabiliza cada mes es la diferencia de Obra en Curso respecto al mes anterior: se resta el mes anterior.</a:t>
            </a:r>
          </a:p>
          <a:p>
            <a:pPr marL="285750" indent="-285750">
              <a:lnSpc>
                <a:spcPct val="150000"/>
              </a:lnSpc>
              <a:buFont typeface="Arial" panose="020B0604020202020204" pitchFamily="34" charset="0"/>
              <a:buChar char="•"/>
            </a:pPr>
            <a:r>
              <a:rPr lang="es-ES" sz="1600" dirty="0"/>
              <a:t>En el mes de cierre, se anula la OC del mes anterior. Por tanto la Obra en Curso solo tiene efecto mientras la Obra esté en curso. No tiene efecto en los resultados finales.</a:t>
            </a:r>
          </a:p>
          <a:p>
            <a:pPr marL="742950" lvl="1" indent="-285750">
              <a:lnSpc>
                <a:spcPct val="150000"/>
              </a:lnSpc>
              <a:buFont typeface="Arial" panose="020B0604020202020204" pitchFamily="34" charset="0"/>
              <a:buChar char="•"/>
            </a:pPr>
            <a:endParaRPr lang="es-ES" sz="1600" dirty="0"/>
          </a:p>
        </p:txBody>
      </p:sp>
    </p:spTree>
    <p:extLst>
      <p:ext uri="{BB962C8B-B14F-4D97-AF65-F5344CB8AC3E}">
        <p14:creationId xmlns:p14="http://schemas.microsoft.com/office/powerpoint/2010/main" val="4164962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457200" y="404664"/>
            <a:ext cx="8229600" cy="1066800"/>
          </a:xfrm>
        </p:spPr>
        <p:txBody>
          <a:bodyPr>
            <a:normAutofit/>
          </a:bodyPr>
          <a:lstStyle/>
          <a:p>
            <a:r>
              <a:rPr lang="es-ES" dirty="0"/>
              <a:t>Obra en Curso</a:t>
            </a:r>
          </a:p>
        </p:txBody>
      </p:sp>
      <p:sp>
        <p:nvSpPr>
          <p:cNvPr id="5" name="CuadroTexto 4"/>
          <p:cNvSpPr txBox="1"/>
          <p:nvPr/>
        </p:nvSpPr>
        <p:spPr>
          <a:xfrm>
            <a:off x="251520" y="1124744"/>
            <a:ext cx="8169526" cy="41601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s-ES" sz="1600" dirty="0"/>
              <a:t>La Obra en Curso se calcula a la fecha del último día del mes que se cierra.</a:t>
            </a:r>
          </a:p>
        </p:txBody>
      </p:sp>
      <p:pic>
        <p:nvPicPr>
          <p:cNvPr id="4" name="Imagen 3">
            <a:extLst>
              <a:ext uri="{FF2B5EF4-FFF2-40B4-BE49-F238E27FC236}">
                <a16:creationId xmlns:a16="http://schemas.microsoft.com/office/drawing/2014/main" id="{5AD1658B-C03D-468C-8C1B-7E04F0232F12}"/>
              </a:ext>
            </a:extLst>
          </p:cNvPr>
          <p:cNvPicPr>
            <a:picLocks noChangeAspect="1"/>
          </p:cNvPicPr>
          <p:nvPr/>
        </p:nvPicPr>
        <p:blipFill>
          <a:blip r:embed="rId2"/>
          <a:stretch>
            <a:fillRect/>
          </a:stretch>
        </p:blipFill>
        <p:spPr>
          <a:xfrm>
            <a:off x="457200" y="1772816"/>
            <a:ext cx="7388954" cy="4083491"/>
          </a:xfrm>
          <a:prstGeom prst="rect">
            <a:avLst/>
          </a:prstGeom>
        </p:spPr>
      </p:pic>
    </p:spTree>
    <p:extLst>
      <p:ext uri="{BB962C8B-B14F-4D97-AF65-F5344CB8AC3E}">
        <p14:creationId xmlns:p14="http://schemas.microsoft.com/office/powerpoint/2010/main" val="2041635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ángulo 43">
            <a:extLst>
              <a:ext uri="{FF2B5EF4-FFF2-40B4-BE49-F238E27FC236}">
                <a16:creationId xmlns:a16="http://schemas.microsoft.com/office/drawing/2014/main" id="{94558653-D5CD-48B5-8CB3-DBBAD9E78F3B}"/>
              </a:ext>
            </a:extLst>
          </p:cNvPr>
          <p:cNvSpPr/>
          <p:nvPr/>
        </p:nvSpPr>
        <p:spPr>
          <a:xfrm>
            <a:off x="35496" y="3717032"/>
            <a:ext cx="9108504" cy="982027"/>
          </a:xfrm>
          <a:prstGeom prst="rect">
            <a:avLst/>
          </a:prstGeom>
          <a:solidFill>
            <a:schemeClr val="accent3">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30" name="Rectángulo 29">
            <a:extLst>
              <a:ext uri="{FF2B5EF4-FFF2-40B4-BE49-F238E27FC236}">
                <a16:creationId xmlns:a16="http://schemas.microsoft.com/office/drawing/2014/main" id="{1B8F825E-9E59-4182-9CF5-AA69C80828E9}"/>
              </a:ext>
            </a:extLst>
          </p:cNvPr>
          <p:cNvSpPr/>
          <p:nvPr/>
        </p:nvSpPr>
        <p:spPr>
          <a:xfrm>
            <a:off x="107504" y="1124744"/>
            <a:ext cx="8856984" cy="764097"/>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3" name="Título 2"/>
          <p:cNvSpPr>
            <a:spLocks noGrp="1"/>
          </p:cNvSpPr>
          <p:nvPr>
            <p:ph type="title"/>
          </p:nvPr>
        </p:nvSpPr>
        <p:spPr>
          <a:xfrm>
            <a:off x="457200" y="332656"/>
            <a:ext cx="8229600" cy="1066800"/>
          </a:xfrm>
        </p:spPr>
        <p:txBody>
          <a:bodyPr>
            <a:normAutofit/>
          </a:bodyPr>
          <a:lstStyle/>
          <a:p>
            <a:r>
              <a:rPr lang="es-ES" dirty="0"/>
              <a:t>Fórmula de Cálculo</a:t>
            </a:r>
          </a:p>
        </p:txBody>
      </p:sp>
      <p:sp>
        <p:nvSpPr>
          <p:cNvPr id="2" name="CuadroTexto 1">
            <a:extLst>
              <a:ext uri="{FF2B5EF4-FFF2-40B4-BE49-F238E27FC236}">
                <a16:creationId xmlns:a16="http://schemas.microsoft.com/office/drawing/2014/main" id="{D82A34ED-3DD6-4902-93D0-DAFE10FB06AE}"/>
              </a:ext>
            </a:extLst>
          </p:cNvPr>
          <p:cNvSpPr txBox="1"/>
          <p:nvPr/>
        </p:nvSpPr>
        <p:spPr>
          <a:xfrm>
            <a:off x="99921" y="1196752"/>
            <a:ext cx="1879791" cy="646331"/>
          </a:xfrm>
          <a:prstGeom prst="rect">
            <a:avLst/>
          </a:prstGeom>
          <a:noFill/>
        </p:spPr>
        <p:txBody>
          <a:bodyPr wrap="square" rtlCol="0">
            <a:spAutoFit/>
          </a:bodyPr>
          <a:lstStyle/>
          <a:p>
            <a:r>
              <a:rPr lang="es-ES" dirty="0"/>
              <a:t>OBRA EN CURSO</a:t>
            </a:r>
          </a:p>
        </p:txBody>
      </p:sp>
      <p:sp>
        <p:nvSpPr>
          <p:cNvPr id="4" name="CuadroTexto 3">
            <a:extLst>
              <a:ext uri="{FF2B5EF4-FFF2-40B4-BE49-F238E27FC236}">
                <a16:creationId xmlns:a16="http://schemas.microsoft.com/office/drawing/2014/main" id="{EE664A05-F45D-4539-AFD9-2FEF2E6D6D0A}"/>
              </a:ext>
            </a:extLst>
          </p:cNvPr>
          <p:cNvSpPr txBox="1"/>
          <p:nvPr/>
        </p:nvSpPr>
        <p:spPr>
          <a:xfrm>
            <a:off x="1475656" y="1385372"/>
            <a:ext cx="319318" cy="369332"/>
          </a:xfrm>
          <a:prstGeom prst="rect">
            <a:avLst/>
          </a:prstGeom>
          <a:noFill/>
        </p:spPr>
        <p:txBody>
          <a:bodyPr wrap="square" rtlCol="0">
            <a:spAutoFit/>
          </a:bodyPr>
          <a:lstStyle/>
          <a:p>
            <a:r>
              <a:rPr lang="es-ES" dirty="0"/>
              <a:t>=</a:t>
            </a:r>
          </a:p>
        </p:txBody>
      </p:sp>
      <p:sp>
        <p:nvSpPr>
          <p:cNvPr id="6" name="CuadroTexto 5">
            <a:extLst>
              <a:ext uri="{FF2B5EF4-FFF2-40B4-BE49-F238E27FC236}">
                <a16:creationId xmlns:a16="http://schemas.microsoft.com/office/drawing/2014/main" id="{6280AF83-C78E-454F-950F-2E21ADA91D5E}"/>
              </a:ext>
            </a:extLst>
          </p:cNvPr>
          <p:cNvSpPr txBox="1"/>
          <p:nvPr/>
        </p:nvSpPr>
        <p:spPr>
          <a:xfrm>
            <a:off x="1907704" y="1202372"/>
            <a:ext cx="2407551" cy="646331"/>
          </a:xfrm>
          <a:prstGeom prst="rect">
            <a:avLst/>
          </a:prstGeom>
          <a:noFill/>
        </p:spPr>
        <p:txBody>
          <a:bodyPr wrap="square" rtlCol="0">
            <a:spAutoFit/>
          </a:bodyPr>
          <a:lstStyle/>
          <a:p>
            <a:r>
              <a:rPr lang="es-ES" dirty="0"/>
              <a:t>GASTO REALIZADO A FECHA</a:t>
            </a:r>
          </a:p>
        </p:txBody>
      </p:sp>
      <p:sp>
        <p:nvSpPr>
          <p:cNvPr id="7" name="CuadroTexto 6">
            <a:extLst>
              <a:ext uri="{FF2B5EF4-FFF2-40B4-BE49-F238E27FC236}">
                <a16:creationId xmlns:a16="http://schemas.microsoft.com/office/drawing/2014/main" id="{3239D254-CE09-4BB5-8473-606EC553CBBA}"/>
              </a:ext>
            </a:extLst>
          </p:cNvPr>
          <p:cNvSpPr txBox="1"/>
          <p:nvPr/>
        </p:nvSpPr>
        <p:spPr>
          <a:xfrm>
            <a:off x="4644008" y="1202372"/>
            <a:ext cx="2407550" cy="646331"/>
          </a:xfrm>
          <a:prstGeom prst="rect">
            <a:avLst/>
          </a:prstGeom>
          <a:solidFill>
            <a:schemeClr val="accent2">
              <a:lumMod val="20000"/>
              <a:lumOff val="80000"/>
            </a:schemeClr>
          </a:solidFill>
        </p:spPr>
        <p:txBody>
          <a:bodyPr wrap="square" rtlCol="0">
            <a:spAutoFit/>
          </a:bodyPr>
          <a:lstStyle/>
          <a:p>
            <a:r>
              <a:rPr lang="es-ES" dirty="0"/>
              <a:t>BENEFICIO SEGÚN AVANCE DE OBRA</a:t>
            </a:r>
          </a:p>
        </p:txBody>
      </p:sp>
      <p:sp>
        <p:nvSpPr>
          <p:cNvPr id="8" name="CuadroTexto 7">
            <a:extLst>
              <a:ext uri="{FF2B5EF4-FFF2-40B4-BE49-F238E27FC236}">
                <a16:creationId xmlns:a16="http://schemas.microsoft.com/office/drawing/2014/main" id="{3A5F7702-C0E9-41A6-952C-AF85F1FE6421}"/>
              </a:ext>
            </a:extLst>
          </p:cNvPr>
          <p:cNvSpPr txBox="1"/>
          <p:nvPr/>
        </p:nvSpPr>
        <p:spPr>
          <a:xfrm>
            <a:off x="4252682" y="1409104"/>
            <a:ext cx="319318" cy="369332"/>
          </a:xfrm>
          <a:prstGeom prst="rect">
            <a:avLst/>
          </a:prstGeom>
          <a:noFill/>
        </p:spPr>
        <p:txBody>
          <a:bodyPr wrap="none" rtlCol="0">
            <a:spAutoFit/>
          </a:bodyPr>
          <a:lstStyle/>
          <a:p>
            <a:r>
              <a:rPr lang="es-ES" dirty="0"/>
              <a:t>+</a:t>
            </a:r>
          </a:p>
        </p:txBody>
      </p:sp>
      <p:sp>
        <p:nvSpPr>
          <p:cNvPr id="9" name="CuadroTexto 8">
            <a:extLst>
              <a:ext uri="{FF2B5EF4-FFF2-40B4-BE49-F238E27FC236}">
                <a16:creationId xmlns:a16="http://schemas.microsoft.com/office/drawing/2014/main" id="{42E7A4A7-9DED-483A-AABA-A64436F31202}"/>
              </a:ext>
            </a:extLst>
          </p:cNvPr>
          <p:cNvSpPr txBox="1"/>
          <p:nvPr/>
        </p:nvSpPr>
        <p:spPr>
          <a:xfrm>
            <a:off x="7046694" y="1346388"/>
            <a:ext cx="261610" cy="369332"/>
          </a:xfrm>
          <a:prstGeom prst="rect">
            <a:avLst/>
          </a:prstGeom>
          <a:noFill/>
        </p:spPr>
        <p:txBody>
          <a:bodyPr wrap="none" rtlCol="0">
            <a:spAutoFit/>
          </a:bodyPr>
          <a:lstStyle/>
          <a:p>
            <a:r>
              <a:rPr lang="es-ES" dirty="0"/>
              <a:t>-</a:t>
            </a:r>
          </a:p>
        </p:txBody>
      </p:sp>
      <p:sp>
        <p:nvSpPr>
          <p:cNvPr id="10" name="CuadroTexto 9">
            <a:extLst>
              <a:ext uri="{FF2B5EF4-FFF2-40B4-BE49-F238E27FC236}">
                <a16:creationId xmlns:a16="http://schemas.microsoft.com/office/drawing/2014/main" id="{42D7B358-A044-4109-A921-B84E09B5FDD3}"/>
              </a:ext>
            </a:extLst>
          </p:cNvPr>
          <p:cNvSpPr txBox="1"/>
          <p:nvPr/>
        </p:nvSpPr>
        <p:spPr>
          <a:xfrm>
            <a:off x="7421034" y="1198493"/>
            <a:ext cx="1687470" cy="646331"/>
          </a:xfrm>
          <a:prstGeom prst="rect">
            <a:avLst/>
          </a:prstGeom>
          <a:noFill/>
        </p:spPr>
        <p:txBody>
          <a:bodyPr wrap="square" rtlCol="0">
            <a:spAutoFit/>
          </a:bodyPr>
          <a:lstStyle/>
          <a:p>
            <a:r>
              <a:rPr lang="es-ES" dirty="0"/>
              <a:t>INGRESO FACTURADO</a:t>
            </a:r>
          </a:p>
        </p:txBody>
      </p:sp>
      <p:sp>
        <p:nvSpPr>
          <p:cNvPr id="11" name="CuadroTexto 10">
            <a:extLst>
              <a:ext uri="{FF2B5EF4-FFF2-40B4-BE49-F238E27FC236}">
                <a16:creationId xmlns:a16="http://schemas.microsoft.com/office/drawing/2014/main" id="{55655E51-78B0-479C-AE2C-07742729B6D1}"/>
              </a:ext>
            </a:extLst>
          </p:cNvPr>
          <p:cNvSpPr txBox="1"/>
          <p:nvPr/>
        </p:nvSpPr>
        <p:spPr>
          <a:xfrm>
            <a:off x="2555776" y="1988841"/>
            <a:ext cx="1656184" cy="523220"/>
          </a:xfrm>
          <a:prstGeom prst="rect">
            <a:avLst/>
          </a:prstGeom>
          <a:noFill/>
        </p:spPr>
        <p:txBody>
          <a:bodyPr wrap="square" rtlCol="0">
            <a:spAutoFit/>
          </a:bodyPr>
          <a:lstStyle/>
          <a:p>
            <a:r>
              <a:rPr lang="es-ES" sz="1400" dirty="0"/>
              <a:t>BENEFICIO PREVISTO</a:t>
            </a:r>
          </a:p>
        </p:txBody>
      </p:sp>
      <p:sp>
        <p:nvSpPr>
          <p:cNvPr id="12" name="CuadroTexto 11">
            <a:extLst>
              <a:ext uri="{FF2B5EF4-FFF2-40B4-BE49-F238E27FC236}">
                <a16:creationId xmlns:a16="http://schemas.microsoft.com/office/drawing/2014/main" id="{2A37696E-1889-4AC7-9EDC-E86949DCCCEA}"/>
              </a:ext>
            </a:extLst>
          </p:cNvPr>
          <p:cNvSpPr txBox="1"/>
          <p:nvPr/>
        </p:nvSpPr>
        <p:spPr>
          <a:xfrm>
            <a:off x="2195736" y="2091374"/>
            <a:ext cx="288862" cy="307777"/>
          </a:xfrm>
          <a:prstGeom prst="rect">
            <a:avLst/>
          </a:prstGeom>
          <a:noFill/>
        </p:spPr>
        <p:txBody>
          <a:bodyPr wrap="none" rtlCol="0">
            <a:spAutoFit/>
          </a:bodyPr>
          <a:lstStyle/>
          <a:p>
            <a:r>
              <a:rPr lang="es-ES" sz="1400" dirty="0"/>
              <a:t>=</a:t>
            </a:r>
          </a:p>
        </p:txBody>
      </p:sp>
      <p:sp>
        <p:nvSpPr>
          <p:cNvPr id="13" name="CuadroTexto 12">
            <a:extLst>
              <a:ext uri="{FF2B5EF4-FFF2-40B4-BE49-F238E27FC236}">
                <a16:creationId xmlns:a16="http://schemas.microsoft.com/office/drawing/2014/main" id="{87715E92-5FF6-4839-B551-EAB848C0C578}"/>
              </a:ext>
            </a:extLst>
          </p:cNvPr>
          <p:cNvSpPr txBox="1"/>
          <p:nvPr/>
        </p:nvSpPr>
        <p:spPr>
          <a:xfrm>
            <a:off x="220233" y="1988841"/>
            <a:ext cx="1903495" cy="523220"/>
          </a:xfrm>
          <a:prstGeom prst="rect">
            <a:avLst/>
          </a:prstGeom>
          <a:solidFill>
            <a:schemeClr val="accent2">
              <a:lumMod val="20000"/>
              <a:lumOff val="80000"/>
            </a:schemeClr>
          </a:solidFill>
        </p:spPr>
        <p:txBody>
          <a:bodyPr wrap="square" rtlCol="0">
            <a:spAutoFit/>
          </a:bodyPr>
          <a:lstStyle/>
          <a:p>
            <a:r>
              <a:rPr lang="es-ES" sz="1400" dirty="0"/>
              <a:t>BENEFICIO SEGÚN AVANCE DE OBRA</a:t>
            </a:r>
          </a:p>
        </p:txBody>
      </p:sp>
      <p:sp>
        <p:nvSpPr>
          <p:cNvPr id="14" name="CuadroTexto 13">
            <a:extLst>
              <a:ext uri="{FF2B5EF4-FFF2-40B4-BE49-F238E27FC236}">
                <a16:creationId xmlns:a16="http://schemas.microsoft.com/office/drawing/2014/main" id="{C8580C74-25BC-406B-9459-6A1B1949815F}"/>
              </a:ext>
            </a:extLst>
          </p:cNvPr>
          <p:cNvSpPr txBox="1"/>
          <p:nvPr/>
        </p:nvSpPr>
        <p:spPr>
          <a:xfrm>
            <a:off x="3691044" y="2113111"/>
            <a:ext cx="304892" cy="307777"/>
          </a:xfrm>
          <a:prstGeom prst="rect">
            <a:avLst/>
          </a:prstGeom>
          <a:noFill/>
        </p:spPr>
        <p:txBody>
          <a:bodyPr wrap="none" rtlCol="0">
            <a:spAutoFit/>
          </a:bodyPr>
          <a:lstStyle/>
          <a:p>
            <a:r>
              <a:rPr lang="es-ES" sz="1400" dirty="0"/>
              <a:t>X</a:t>
            </a:r>
          </a:p>
        </p:txBody>
      </p:sp>
      <p:sp>
        <p:nvSpPr>
          <p:cNvPr id="15" name="CuadroTexto 14">
            <a:extLst>
              <a:ext uri="{FF2B5EF4-FFF2-40B4-BE49-F238E27FC236}">
                <a16:creationId xmlns:a16="http://schemas.microsoft.com/office/drawing/2014/main" id="{E88AFBD4-BF31-4B43-88F3-B735773835F3}"/>
              </a:ext>
            </a:extLst>
          </p:cNvPr>
          <p:cNvSpPr txBox="1"/>
          <p:nvPr/>
        </p:nvSpPr>
        <p:spPr>
          <a:xfrm>
            <a:off x="4139952" y="1999739"/>
            <a:ext cx="2746648" cy="523220"/>
          </a:xfrm>
          <a:prstGeom prst="rect">
            <a:avLst/>
          </a:prstGeom>
          <a:solidFill>
            <a:schemeClr val="accent5">
              <a:lumMod val="20000"/>
              <a:lumOff val="80000"/>
            </a:schemeClr>
          </a:solidFill>
        </p:spPr>
        <p:txBody>
          <a:bodyPr wrap="square" rtlCol="0">
            <a:spAutoFit/>
          </a:bodyPr>
          <a:lstStyle/>
          <a:p>
            <a:r>
              <a:rPr lang="es-ES" sz="1400" dirty="0"/>
              <a:t>PORCENTAJE DE AVANCE SEGÚN MOD</a:t>
            </a:r>
          </a:p>
        </p:txBody>
      </p:sp>
      <p:pic>
        <p:nvPicPr>
          <p:cNvPr id="19" name="Imagen 18">
            <a:extLst>
              <a:ext uri="{FF2B5EF4-FFF2-40B4-BE49-F238E27FC236}">
                <a16:creationId xmlns:a16="http://schemas.microsoft.com/office/drawing/2014/main" id="{F982FFA3-9E50-49CA-9CDE-4ACDB6879FE5}"/>
              </a:ext>
            </a:extLst>
          </p:cNvPr>
          <p:cNvPicPr>
            <a:picLocks noChangeAspect="1"/>
          </p:cNvPicPr>
          <p:nvPr/>
        </p:nvPicPr>
        <p:blipFill>
          <a:blip r:embed="rId2"/>
          <a:stretch>
            <a:fillRect/>
          </a:stretch>
        </p:blipFill>
        <p:spPr>
          <a:xfrm>
            <a:off x="0" y="4789179"/>
            <a:ext cx="9144000" cy="962526"/>
          </a:xfrm>
          <a:prstGeom prst="rect">
            <a:avLst/>
          </a:prstGeom>
        </p:spPr>
      </p:pic>
      <p:pic>
        <p:nvPicPr>
          <p:cNvPr id="21" name="Imagen 20">
            <a:extLst>
              <a:ext uri="{FF2B5EF4-FFF2-40B4-BE49-F238E27FC236}">
                <a16:creationId xmlns:a16="http://schemas.microsoft.com/office/drawing/2014/main" id="{49B83C45-9C6C-4EBD-9109-0F815C104D59}"/>
              </a:ext>
            </a:extLst>
          </p:cNvPr>
          <p:cNvPicPr>
            <a:picLocks noChangeAspect="1"/>
          </p:cNvPicPr>
          <p:nvPr/>
        </p:nvPicPr>
        <p:blipFill>
          <a:blip r:embed="rId3"/>
          <a:stretch>
            <a:fillRect/>
          </a:stretch>
        </p:blipFill>
        <p:spPr>
          <a:xfrm>
            <a:off x="27913" y="5715125"/>
            <a:ext cx="9144000" cy="594195"/>
          </a:xfrm>
          <a:prstGeom prst="rect">
            <a:avLst/>
          </a:prstGeom>
        </p:spPr>
      </p:pic>
      <p:sp>
        <p:nvSpPr>
          <p:cNvPr id="22" name="CuadroTexto 21">
            <a:extLst>
              <a:ext uri="{FF2B5EF4-FFF2-40B4-BE49-F238E27FC236}">
                <a16:creationId xmlns:a16="http://schemas.microsoft.com/office/drawing/2014/main" id="{ADD94575-C925-48CA-BEF2-522188AB8E00}"/>
              </a:ext>
            </a:extLst>
          </p:cNvPr>
          <p:cNvSpPr txBox="1"/>
          <p:nvPr/>
        </p:nvSpPr>
        <p:spPr>
          <a:xfrm>
            <a:off x="199419" y="2749113"/>
            <a:ext cx="2428365" cy="523220"/>
          </a:xfrm>
          <a:prstGeom prst="rect">
            <a:avLst/>
          </a:prstGeom>
          <a:solidFill>
            <a:schemeClr val="accent5">
              <a:lumMod val="20000"/>
              <a:lumOff val="80000"/>
            </a:schemeClr>
          </a:solidFill>
        </p:spPr>
        <p:txBody>
          <a:bodyPr wrap="square" rtlCol="0">
            <a:spAutoFit/>
          </a:bodyPr>
          <a:lstStyle/>
          <a:p>
            <a:r>
              <a:rPr lang="es-ES" sz="1400" dirty="0"/>
              <a:t>PORCENTAJE DE AVANCE SEGÚN MOD</a:t>
            </a:r>
          </a:p>
        </p:txBody>
      </p:sp>
      <p:sp>
        <p:nvSpPr>
          <p:cNvPr id="23" name="CuadroTexto 22">
            <a:extLst>
              <a:ext uri="{FF2B5EF4-FFF2-40B4-BE49-F238E27FC236}">
                <a16:creationId xmlns:a16="http://schemas.microsoft.com/office/drawing/2014/main" id="{7A192349-A3EA-4937-826A-2513AF6987BA}"/>
              </a:ext>
            </a:extLst>
          </p:cNvPr>
          <p:cNvSpPr txBox="1"/>
          <p:nvPr/>
        </p:nvSpPr>
        <p:spPr>
          <a:xfrm>
            <a:off x="2699792" y="2823579"/>
            <a:ext cx="288862" cy="307777"/>
          </a:xfrm>
          <a:prstGeom prst="rect">
            <a:avLst/>
          </a:prstGeom>
          <a:noFill/>
        </p:spPr>
        <p:txBody>
          <a:bodyPr wrap="none" rtlCol="0">
            <a:spAutoFit/>
          </a:bodyPr>
          <a:lstStyle/>
          <a:p>
            <a:r>
              <a:rPr lang="es-ES" sz="1400" dirty="0"/>
              <a:t>=</a:t>
            </a:r>
          </a:p>
        </p:txBody>
      </p:sp>
      <p:cxnSp>
        <p:nvCxnSpPr>
          <p:cNvPr id="26" name="Conector recto 25">
            <a:extLst>
              <a:ext uri="{FF2B5EF4-FFF2-40B4-BE49-F238E27FC236}">
                <a16:creationId xmlns:a16="http://schemas.microsoft.com/office/drawing/2014/main" id="{2AD43B1D-9759-4879-87DA-856600E3EDA2}"/>
              </a:ext>
            </a:extLst>
          </p:cNvPr>
          <p:cNvCxnSpPr>
            <a:cxnSpLocks/>
          </p:cNvCxnSpPr>
          <p:nvPr/>
        </p:nvCxnSpPr>
        <p:spPr>
          <a:xfrm>
            <a:off x="3087139" y="2969793"/>
            <a:ext cx="3959555" cy="27159"/>
          </a:xfrm>
          <a:prstGeom prst="line">
            <a:avLst/>
          </a:prstGeom>
        </p:spPr>
        <p:style>
          <a:lnRef idx="2">
            <a:schemeClr val="accent1"/>
          </a:lnRef>
          <a:fillRef idx="0">
            <a:schemeClr val="accent1"/>
          </a:fillRef>
          <a:effectRef idx="1">
            <a:schemeClr val="accent1"/>
          </a:effectRef>
          <a:fontRef idx="minor">
            <a:schemeClr val="tx1"/>
          </a:fontRef>
        </p:style>
      </p:cxnSp>
      <p:sp>
        <p:nvSpPr>
          <p:cNvPr id="27" name="CuadroTexto 26">
            <a:extLst>
              <a:ext uri="{FF2B5EF4-FFF2-40B4-BE49-F238E27FC236}">
                <a16:creationId xmlns:a16="http://schemas.microsoft.com/office/drawing/2014/main" id="{1D93659F-8150-4D7B-B9E8-D0DFEAAAF891}"/>
              </a:ext>
            </a:extLst>
          </p:cNvPr>
          <p:cNvSpPr txBox="1"/>
          <p:nvPr/>
        </p:nvSpPr>
        <p:spPr>
          <a:xfrm>
            <a:off x="3073117" y="2636912"/>
            <a:ext cx="4910566" cy="307777"/>
          </a:xfrm>
          <a:prstGeom prst="rect">
            <a:avLst/>
          </a:prstGeom>
          <a:noFill/>
        </p:spPr>
        <p:txBody>
          <a:bodyPr wrap="square" rtlCol="0">
            <a:spAutoFit/>
          </a:bodyPr>
          <a:lstStyle/>
          <a:p>
            <a:r>
              <a:rPr lang="es-ES" sz="1400" dirty="0"/>
              <a:t>(MOD  +  MOD </a:t>
            </a:r>
            <a:r>
              <a:rPr lang="es-ES" sz="1400" dirty="0" err="1"/>
              <a:t>Subcontr</a:t>
            </a:r>
            <a:r>
              <a:rPr lang="es-ES" sz="1400" dirty="0"/>
              <a:t>.) realizados a Fecha</a:t>
            </a:r>
          </a:p>
        </p:txBody>
      </p:sp>
      <p:sp>
        <p:nvSpPr>
          <p:cNvPr id="29" name="CuadroTexto 28">
            <a:extLst>
              <a:ext uri="{FF2B5EF4-FFF2-40B4-BE49-F238E27FC236}">
                <a16:creationId xmlns:a16="http://schemas.microsoft.com/office/drawing/2014/main" id="{EC42CD3C-B2BA-4529-9120-D41C9EE5A1ED}"/>
              </a:ext>
            </a:extLst>
          </p:cNvPr>
          <p:cNvSpPr txBox="1"/>
          <p:nvPr/>
        </p:nvSpPr>
        <p:spPr>
          <a:xfrm>
            <a:off x="3361149" y="2996952"/>
            <a:ext cx="3974462" cy="307777"/>
          </a:xfrm>
          <a:prstGeom prst="rect">
            <a:avLst/>
          </a:prstGeom>
          <a:noFill/>
        </p:spPr>
        <p:txBody>
          <a:bodyPr wrap="square" rtlCol="0">
            <a:spAutoFit/>
          </a:bodyPr>
          <a:lstStyle/>
          <a:p>
            <a:r>
              <a:rPr lang="es-ES" sz="1400" dirty="0"/>
              <a:t>(MOD  +  MOD </a:t>
            </a:r>
            <a:r>
              <a:rPr lang="es-ES" sz="1400" dirty="0" err="1"/>
              <a:t>Subcontr</a:t>
            </a:r>
            <a:r>
              <a:rPr lang="es-ES" sz="1400" dirty="0"/>
              <a:t>.) previstos</a:t>
            </a:r>
          </a:p>
        </p:txBody>
      </p:sp>
      <p:grpSp>
        <p:nvGrpSpPr>
          <p:cNvPr id="45" name="Grupo 44">
            <a:extLst>
              <a:ext uri="{FF2B5EF4-FFF2-40B4-BE49-F238E27FC236}">
                <a16:creationId xmlns:a16="http://schemas.microsoft.com/office/drawing/2014/main" id="{DB7359D7-5605-4B95-A0FE-ACB066AED336}"/>
              </a:ext>
            </a:extLst>
          </p:cNvPr>
          <p:cNvGrpSpPr/>
          <p:nvPr/>
        </p:nvGrpSpPr>
        <p:grpSpPr>
          <a:xfrm>
            <a:off x="27107" y="4002300"/>
            <a:ext cx="9145016" cy="707455"/>
            <a:chOff x="27107" y="4002300"/>
            <a:chExt cx="9145016" cy="707455"/>
          </a:xfrm>
        </p:grpSpPr>
        <p:sp>
          <p:nvSpPr>
            <p:cNvPr id="32" name="CuadroTexto 31">
              <a:extLst>
                <a:ext uri="{FF2B5EF4-FFF2-40B4-BE49-F238E27FC236}">
                  <a16:creationId xmlns:a16="http://schemas.microsoft.com/office/drawing/2014/main" id="{6268A52F-B50C-4BED-A3CF-7F02C123B0F2}"/>
                </a:ext>
              </a:extLst>
            </p:cNvPr>
            <p:cNvSpPr txBox="1"/>
            <p:nvPr/>
          </p:nvSpPr>
          <p:spPr>
            <a:xfrm>
              <a:off x="27107" y="4186629"/>
              <a:ext cx="4833972" cy="353943"/>
            </a:xfrm>
            <a:prstGeom prst="rect">
              <a:avLst/>
            </a:prstGeom>
            <a:noFill/>
          </p:spPr>
          <p:txBody>
            <a:bodyPr wrap="square" rtlCol="0">
              <a:spAutoFit/>
            </a:bodyPr>
            <a:lstStyle/>
            <a:p>
              <a:r>
                <a:rPr lang="es-ES" sz="1700" dirty="0"/>
                <a:t>OBRA EN CURSO = 12.292,64 + (3.995,55 x </a:t>
              </a:r>
            </a:p>
          </p:txBody>
        </p:sp>
        <p:cxnSp>
          <p:nvCxnSpPr>
            <p:cNvPr id="33" name="Conector recto 32">
              <a:extLst>
                <a:ext uri="{FF2B5EF4-FFF2-40B4-BE49-F238E27FC236}">
                  <a16:creationId xmlns:a16="http://schemas.microsoft.com/office/drawing/2014/main" id="{0DA8D3E6-3E27-40C1-AB57-EABC5CCA1555}"/>
                </a:ext>
              </a:extLst>
            </p:cNvPr>
            <p:cNvCxnSpPr>
              <a:cxnSpLocks/>
            </p:cNvCxnSpPr>
            <p:nvPr/>
          </p:nvCxnSpPr>
          <p:spPr>
            <a:xfrm flipV="1">
              <a:off x="4572117" y="4362340"/>
              <a:ext cx="2078797" cy="8957"/>
            </a:xfrm>
            <a:prstGeom prst="line">
              <a:avLst/>
            </a:prstGeom>
          </p:spPr>
          <p:style>
            <a:lnRef idx="2">
              <a:schemeClr val="accent1"/>
            </a:lnRef>
            <a:fillRef idx="0">
              <a:schemeClr val="accent1"/>
            </a:fillRef>
            <a:effectRef idx="1">
              <a:schemeClr val="accent1"/>
            </a:effectRef>
            <a:fontRef idx="minor">
              <a:schemeClr val="tx1"/>
            </a:fontRef>
          </p:style>
        </p:cxnSp>
        <p:sp>
          <p:nvSpPr>
            <p:cNvPr id="37" name="CuadroTexto 36">
              <a:extLst>
                <a:ext uri="{FF2B5EF4-FFF2-40B4-BE49-F238E27FC236}">
                  <a16:creationId xmlns:a16="http://schemas.microsoft.com/office/drawing/2014/main" id="{070AFB00-1505-4D02-8C4C-A9A21A23ABB9}"/>
                </a:ext>
              </a:extLst>
            </p:cNvPr>
            <p:cNvSpPr txBox="1"/>
            <p:nvPr/>
          </p:nvSpPr>
          <p:spPr>
            <a:xfrm>
              <a:off x="4840090" y="4002300"/>
              <a:ext cx="1247457" cy="353943"/>
            </a:xfrm>
            <a:prstGeom prst="rect">
              <a:avLst/>
            </a:prstGeom>
            <a:noFill/>
          </p:spPr>
          <p:txBody>
            <a:bodyPr wrap="none" rtlCol="0">
              <a:spAutoFit/>
            </a:bodyPr>
            <a:lstStyle/>
            <a:p>
              <a:r>
                <a:rPr lang="es-ES" sz="1700" dirty="0"/>
                <a:t>(0 + 3.574)</a:t>
              </a:r>
            </a:p>
          </p:txBody>
        </p:sp>
        <p:sp>
          <p:nvSpPr>
            <p:cNvPr id="38" name="CuadroTexto 37">
              <a:extLst>
                <a:ext uri="{FF2B5EF4-FFF2-40B4-BE49-F238E27FC236}">
                  <a16:creationId xmlns:a16="http://schemas.microsoft.com/office/drawing/2014/main" id="{91EADFE4-2812-4C85-9B92-42F61233868C}"/>
                </a:ext>
              </a:extLst>
            </p:cNvPr>
            <p:cNvSpPr txBox="1"/>
            <p:nvPr/>
          </p:nvSpPr>
          <p:spPr>
            <a:xfrm>
              <a:off x="4562682" y="4355812"/>
              <a:ext cx="2161169" cy="353943"/>
            </a:xfrm>
            <a:prstGeom prst="rect">
              <a:avLst/>
            </a:prstGeom>
            <a:noFill/>
          </p:spPr>
          <p:txBody>
            <a:bodyPr wrap="none" rtlCol="0">
              <a:spAutoFit/>
            </a:bodyPr>
            <a:lstStyle/>
            <a:p>
              <a:r>
                <a:rPr lang="es-ES" sz="1700" dirty="0"/>
                <a:t>(725,20 + 3.371,28) </a:t>
              </a:r>
            </a:p>
          </p:txBody>
        </p:sp>
        <p:sp>
          <p:nvSpPr>
            <p:cNvPr id="40" name="CuadroTexto 39">
              <a:extLst>
                <a:ext uri="{FF2B5EF4-FFF2-40B4-BE49-F238E27FC236}">
                  <a16:creationId xmlns:a16="http://schemas.microsoft.com/office/drawing/2014/main" id="{9B2D860F-9F1D-43EB-9574-E1EC56ED0AC4}"/>
                </a:ext>
              </a:extLst>
            </p:cNvPr>
            <p:cNvSpPr txBox="1"/>
            <p:nvPr/>
          </p:nvSpPr>
          <p:spPr>
            <a:xfrm>
              <a:off x="6550893" y="4177337"/>
              <a:ext cx="2621230" cy="369332"/>
            </a:xfrm>
            <a:prstGeom prst="rect">
              <a:avLst/>
            </a:prstGeom>
            <a:noFill/>
          </p:spPr>
          <p:txBody>
            <a:bodyPr wrap="none" rtlCol="0">
              <a:spAutoFit/>
            </a:bodyPr>
            <a:lstStyle/>
            <a:p>
              <a:r>
                <a:rPr lang="es-ES" sz="1700" dirty="0"/>
                <a:t>) – 13.445.20 = </a:t>
              </a:r>
              <a:r>
                <a:rPr lang="es-ES" b="1" dirty="0"/>
                <a:t>2.333,38</a:t>
              </a:r>
            </a:p>
          </p:txBody>
        </p:sp>
      </p:grpSp>
      <p:sp>
        <p:nvSpPr>
          <p:cNvPr id="42" name="CuadroTexto 41">
            <a:extLst>
              <a:ext uri="{FF2B5EF4-FFF2-40B4-BE49-F238E27FC236}">
                <a16:creationId xmlns:a16="http://schemas.microsoft.com/office/drawing/2014/main" id="{109B7F27-2BD0-4936-B88A-9A2B8E99E062}"/>
              </a:ext>
            </a:extLst>
          </p:cNvPr>
          <p:cNvSpPr txBox="1"/>
          <p:nvPr/>
        </p:nvSpPr>
        <p:spPr>
          <a:xfrm>
            <a:off x="35496" y="3779443"/>
            <a:ext cx="1042273" cy="307777"/>
          </a:xfrm>
          <a:prstGeom prst="rect">
            <a:avLst/>
          </a:prstGeom>
          <a:noFill/>
        </p:spPr>
        <p:txBody>
          <a:bodyPr wrap="none" rtlCol="0">
            <a:spAutoFit/>
          </a:bodyPr>
          <a:lstStyle/>
          <a:p>
            <a:r>
              <a:rPr lang="es-ES" sz="1400" b="1" dirty="0">
                <a:solidFill>
                  <a:srgbClr val="7030A0"/>
                </a:solidFill>
              </a:rPr>
              <a:t>EJEMPLO</a:t>
            </a:r>
          </a:p>
        </p:txBody>
      </p:sp>
      <p:sp>
        <p:nvSpPr>
          <p:cNvPr id="34" name="CuadroTexto 33">
            <a:extLst>
              <a:ext uri="{FF2B5EF4-FFF2-40B4-BE49-F238E27FC236}">
                <a16:creationId xmlns:a16="http://schemas.microsoft.com/office/drawing/2014/main" id="{F65A4D04-8E06-4AFA-AF15-08055028880F}"/>
              </a:ext>
            </a:extLst>
          </p:cNvPr>
          <p:cNvSpPr txBox="1"/>
          <p:nvPr/>
        </p:nvSpPr>
        <p:spPr>
          <a:xfrm>
            <a:off x="7484654" y="2449512"/>
            <a:ext cx="1687469" cy="830997"/>
          </a:xfrm>
          <a:prstGeom prst="rect">
            <a:avLst/>
          </a:prstGeom>
          <a:noFill/>
        </p:spPr>
        <p:txBody>
          <a:bodyPr wrap="square">
            <a:spAutoFit/>
          </a:bodyPr>
          <a:lstStyle/>
          <a:p>
            <a:r>
              <a:rPr lang="es-ES" sz="1200" b="1" dirty="0"/>
              <a:t>Se consideran MOD </a:t>
            </a:r>
            <a:r>
              <a:rPr lang="es-ES" sz="1200" b="1" dirty="0" err="1"/>
              <a:t>Subcontr</a:t>
            </a:r>
            <a:r>
              <a:rPr lang="es-ES" sz="1200" b="1" dirty="0"/>
              <a:t>. las líneas con el artículo 0000025000</a:t>
            </a:r>
          </a:p>
        </p:txBody>
      </p:sp>
    </p:spTree>
    <p:extLst>
      <p:ext uri="{BB962C8B-B14F-4D97-AF65-F5344CB8AC3E}">
        <p14:creationId xmlns:p14="http://schemas.microsoft.com/office/powerpoint/2010/main" val="17747289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457200" y="404664"/>
            <a:ext cx="8229600" cy="1066800"/>
          </a:xfrm>
        </p:spPr>
        <p:txBody>
          <a:bodyPr>
            <a:normAutofit/>
          </a:bodyPr>
          <a:lstStyle/>
          <a:p>
            <a:r>
              <a:rPr lang="es-ES" dirty="0"/>
              <a:t>Casos particulares</a:t>
            </a:r>
          </a:p>
        </p:txBody>
      </p:sp>
      <p:sp>
        <p:nvSpPr>
          <p:cNvPr id="5" name="CuadroTexto 4"/>
          <p:cNvSpPr txBox="1"/>
          <p:nvPr/>
        </p:nvSpPr>
        <p:spPr>
          <a:xfrm>
            <a:off x="250833" y="1243196"/>
            <a:ext cx="8169526" cy="5361532"/>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s-ES" dirty="0"/>
              <a:t>Sí hay desviación en MOD (PORCENTAJE DE AVANCE SEGÚN MOD es &gt; 1), nos damos como máximo el BENEFICIO PREVISTO.</a:t>
            </a:r>
          </a:p>
          <a:p>
            <a:pPr marL="285750" indent="-285750">
              <a:lnSpc>
                <a:spcPct val="200000"/>
              </a:lnSpc>
              <a:buFont typeface="Arial" panose="020B0604020202020204" pitchFamily="34" charset="0"/>
              <a:buChar char="•"/>
            </a:pPr>
            <a:endParaRPr lang="es-ES" dirty="0"/>
          </a:p>
          <a:p>
            <a:pPr marL="285750" indent="-285750">
              <a:lnSpc>
                <a:spcPct val="200000"/>
              </a:lnSpc>
              <a:buFont typeface="Arial" panose="020B0604020202020204" pitchFamily="34" charset="0"/>
              <a:buChar char="•"/>
            </a:pPr>
            <a:r>
              <a:rPr lang="es-ES" dirty="0"/>
              <a:t> Si GASTO REALIZADO A FECHA + BENEFICIO SEGÚN AVANCE DE OBRA supera el Ingreso Previsto se pondrá el Ingreso Previsto.</a:t>
            </a:r>
          </a:p>
          <a:p>
            <a:pPr marL="285750" indent="-285750">
              <a:lnSpc>
                <a:spcPct val="200000"/>
              </a:lnSpc>
              <a:buFont typeface="Arial" panose="020B0604020202020204" pitchFamily="34" charset="0"/>
              <a:buChar char="•"/>
            </a:pPr>
            <a:endParaRPr lang="es-ES" dirty="0"/>
          </a:p>
          <a:p>
            <a:pPr marL="285750" indent="-285750">
              <a:lnSpc>
                <a:spcPct val="200000"/>
              </a:lnSpc>
              <a:buFont typeface="Arial" panose="020B0604020202020204" pitchFamily="34" charset="0"/>
              <a:buChar char="•"/>
            </a:pPr>
            <a:r>
              <a:rPr lang="es-ES" dirty="0"/>
              <a:t>Si no hay MO Prevista [</a:t>
            </a:r>
            <a:r>
              <a:rPr lang="es-ES" sz="1800" dirty="0"/>
              <a:t>(MOD  +  MOD </a:t>
            </a:r>
            <a:r>
              <a:rPr lang="es-ES" sz="1800" dirty="0" err="1"/>
              <a:t>Subcontr</a:t>
            </a:r>
            <a:r>
              <a:rPr lang="es-ES" sz="1800" dirty="0"/>
              <a:t>.) previstos= 0] la fórmula que se usa de Porcentaje de Avance es: Gasto Total Realizado a Fecha / Gasto Total Previsto.</a:t>
            </a:r>
            <a:endParaRPr lang="es-ES" dirty="0"/>
          </a:p>
          <a:p>
            <a:pPr marL="285750" indent="-285750">
              <a:lnSpc>
                <a:spcPct val="150000"/>
              </a:lnSpc>
              <a:buFont typeface="Arial" panose="020B0604020202020204" pitchFamily="34" charset="0"/>
              <a:buChar char="•"/>
            </a:pPr>
            <a:endParaRPr lang="es-ES" sz="1400" dirty="0"/>
          </a:p>
        </p:txBody>
      </p:sp>
    </p:spTree>
    <p:extLst>
      <p:ext uri="{BB962C8B-B14F-4D97-AF65-F5344CB8AC3E}">
        <p14:creationId xmlns:p14="http://schemas.microsoft.com/office/powerpoint/2010/main" val="4021078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457200" y="489992"/>
            <a:ext cx="8229600" cy="1066800"/>
          </a:xfrm>
        </p:spPr>
        <p:txBody>
          <a:bodyPr>
            <a:normAutofit fontScale="90000"/>
          </a:bodyPr>
          <a:lstStyle/>
          <a:p>
            <a:r>
              <a:rPr lang="es-ES" dirty="0"/>
              <a:t>Problemas habituales que influyen el cálculo de la Obra en Curso</a:t>
            </a:r>
          </a:p>
        </p:txBody>
      </p:sp>
      <p:graphicFrame>
        <p:nvGraphicFramePr>
          <p:cNvPr id="2" name="Tabla 3">
            <a:extLst>
              <a:ext uri="{FF2B5EF4-FFF2-40B4-BE49-F238E27FC236}">
                <a16:creationId xmlns:a16="http://schemas.microsoft.com/office/drawing/2014/main" id="{2AEB4D7C-57C6-4C82-9D13-F3AB35901577}"/>
              </a:ext>
            </a:extLst>
          </p:cNvPr>
          <p:cNvGraphicFramePr>
            <a:graphicFrameLocks noGrp="1"/>
          </p:cNvGraphicFramePr>
          <p:nvPr>
            <p:extLst>
              <p:ext uri="{D42A27DB-BD31-4B8C-83A1-F6EECF244321}">
                <p14:modId xmlns:p14="http://schemas.microsoft.com/office/powerpoint/2010/main" val="3809933525"/>
              </p:ext>
            </p:extLst>
          </p:nvPr>
        </p:nvGraphicFramePr>
        <p:xfrm>
          <a:off x="107504" y="2204864"/>
          <a:ext cx="8856984" cy="2992120"/>
        </p:xfrm>
        <a:graphic>
          <a:graphicData uri="http://schemas.openxmlformats.org/drawingml/2006/table">
            <a:tbl>
              <a:tblPr firstRow="1" bandRow="1">
                <a:tableStyleId>{5C22544A-7EE6-4342-B048-85BDC9FD1C3A}</a:tableStyleId>
              </a:tblPr>
              <a:tblGrid>
                <a:gridCol w="4428492">
                  <a:extLst>
                    <a:ext uri="{9D8B030D-6E8A-4147-A177-3AD203B41FA5}">
                      <a16:colId xmlns:a16="http://schemas.microsoft.com/office/drawing/2014/main" val="2361138637"/>
                    </a:ext>
                  </a:extLst>
                </a:gridCol>
                <a:gridCol w="4428492">
                  <a:extLst>
                    <a:ext uri="{9D8B030D-6E8A-4147-A177-3AD203B41FA5}">
                      <a16:colId xmlns:a16="http://schemas.microsoft.com/office/drawing/2014/main" val="1685436620"/>
                    </a:ext>
                  </a:extLst>
                </a:gridCol>
              </a:tblGrid>
              <a:tr h="370840">
                <a:tc>
                  <a:txBody>
                    <a:bodyPr/>
                    <a:lstStyle/>
                    <a:p>
                      <a:r>
                        <a:rPr lang="es-ES" dirty="0"/>
                        <a:t>Error</a:t>
                      </a:r>
                    </a:p>
                  </a:txBody>
                  <a:tcPr/>
                </a:tc>
                <a:tc>
                  <a:txBody>
                    <a:bodyPr/>
                    <a:lstStyle/>
                    <a:p>
                      <a:r>
                        <a:rPr lang="es-ES" dirty="0"/>
                        <a:t>Efecto</a:t>
                      </a:r>
                    </a:p>
                  </a:txBody>
                  <a:tcPr/>
                </a:tc>
                <a:extLst>
                  <a:ext uri="{0D108BD9-81ED-4DB2-BD59-A6C34878D82A}">
                    <a16:rowId xmlns:a16="http://schemas.microsoft.com/office/drawing/2014/main" val="2608838431"/>
                  </a:ext>
                </a:extLst>
              </a:tr>
              <a:tr h="370840">
                <a:tc>
                  <a:txBody>
                    <a:bodyPr/>
                    <a:lstStyle/>
                    <a:p>
                      <a:r>
                        <a:rPr lang="es-ES" sz="1400" dirty="0"/>
                        <a:t>Debe estar bien indicado el artículo 0000025000 tanto en Previstos como en Reales.</a:t>
                      </a:r>
                    </a:p>
                  </a:txBody>
                  <a:tcPr/>
                </a:tc>
                <a:tc>
                  <a:txBody>
                    <a:bodyPr/>
                    <a:lstStyle/>
                    <a:p>
                      <a:r>
                        <a:rPr lang="es-ES" sz="1400" dirty="0"/>
                        <a:t>No se calcula correctamente el Avance de la Obra y la Obra en Curso</a:t>
                      </a:r>
                    </a:p>
                  </a:txBody>
                  <a:tcPr/>
                </a:tc>
                <a:extLst>
                  <a:ext uri="{0D108BD9-81ED-4DB2-BD59-A6C34878D82A}">
                    <a16:rowId xmlns:a16="http://schemas.microsoft.com/office/drawing/2014/main" val="52350860"/>
                  </a:ext>
                </a:extLst>
              </a:tr>
              <a:tr h="370840">
                <a:tc>
                  <a:txBody>
                    <a:bodyPr/>
                    <a:lstStyle/>
                    <a:p>
                      <a:r>
                        <a:rPr lang="es-ES" sz="1400" dirty="0"/>
                        <a:t>Deben reflejarse en los previstos las ampliaciones de presupuesto: el Ingreso Facturado no puede ser mayor al Ingreso Previsto.</a:t>
                      </a:r>
                    </a:p>
                    <a:p>
                      <a:r>
                        <a:rPr lang="es-ES" sz="1400" dirty="0"/>
                        <a:t>Las ampliaciones se reflejan haciendo presupuesto por la ampliación y añadiendo el presupuesto al proyecto ya existente.</a:t>
                      </a:r>
                    </a:p>
                  </a:txBody>
                  <a:tcPr/>
                </a:tc>
                <a:tc>
                  <a:txBody>
                    <a:bodyPr/>
                    <a:lstStyle/>
                    <a:p>
                      <a:r>
                        <a:rPr lang="es-ES" sz="1400" dirty="0"/>
                        <a:t>No se calcula correctamente el Beneficio Previsto y la Obra en Curso.</a:t>
                      </a:r>
                    </a:p>
                  </a:txBody>
                  <a:tcPr/>
                </a:tc>
                <a:extLst>
                  <a:ext uri="{0D108BD9-81ED-4DB2-BD59-A6C34878D82A}">
                    <a16:rowId xmlns:a16="http://schemas.microsoft.com/office/drawing/2014/main" val="2839821"/>
                  </a:ext>
                </a:extLst>
              </a:tr>
              <a:tr h="370840">
                <a:tc>
                  <a:txBody>
                    <a:bodyPr/>
                    <a:lstStyle/>
                    <a:p>
                      <a:r>
                        <a:rPr lang="es-ES" sz="1400" dirty="0"/>
                        <a:t>Si se incluyen líneas en Previstos para poder hacer la compra, deben incluirse con Precio y Precio de venta cero para que no de cambien los previstos.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400" dirty="0"/>
                        <a:t>No se calcula correctamente el Beneficio Previsto y la Obra en Curso.</a:t>
                      </a:r>
                    </a:p>
                    <a:p>
                      <a:endParaRPr lang="es-ES" sz="1400" dirty="0"/>
                    </a:p>
                  </a:txBody>
                  <a:tcPr/>
                </a:tc>
                <a:extLst>
                  <a:ext uri="{0D108BD9-81ED-4DB2-BD59-A6C34878D82A}">
                    <a16:rowId xmlns:a16="http://schemas.microsoft.com/office/drawing/2014/main" val="1465329341"/>
                  </a:ext>
                </a:extLst>
              </a:tr>
            </a:tbl>
          </a:graphicData>
        </a:graphic>
      </p:graphicFrame>
    </p:spTree>
    <p:extLst>
      <p:ext uri="{BB962C8B-B14F-4D97-AF65-F5344CB8AC3E}">
        <p14:creationId xmlns:p14="http://schemas.microsoft.com/office/powerpoint/2010/main" val="4276333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7884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457200" y="332656"/>
            <a:ext cx="8229600" cy="1066800"/>
          </a:xfrm>
        </p:spPr>
        <p:txBody>
          <a:bodyPr>
            <a:normAutofit/>
          </a:bodyPr>
          <a:lstStyle/>
          <a:p>
            <a:r>
              <a:rPr lang="es-ES" dirty="0"/>
              <a:t>Nueva Obra en Curso</a:t>
            </a:r>
          </a:p>
        </p:txBody>
      </p:sp>
      <p:sp>
        <p:nvSpPr>
          <p:cNvPr id="5" name="CuadroTexto 4"/>
          <p:cNvSpPr txBox="1"/>
          <p:nvPr/>
        </p:nvSpPr>
        <p:spPr>
          <a:xfrm>
            <a:off x="-36512" y="1498066"/>
            <a:ext cx="2088232" cy="492443"/>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s-ES" sz="1300" dirty="0"/>
              <a:t>OBRA EN CURSO =</a:t>
            </a:r>
            <a:endParaRPr lang="es-ES" sz="1300" b="1" u="sng" dirty="0"/>
          </a:p>
        </p:txBody>
      </p:sp>
      <p:sp>
        <p:nvSpPr>
          <p:cNvPr id="4" name="CuadroTexto 3"/>
          <p:cNvSpPr txBox="1"/>
          <p:nvPr/>
        </p:nvSpPr>
        <p:spPr>
          <a:xfrm>
            <a:off x="1979712" y="1484784"/>
            <a:ext cx="1944216" cy="461665"/>
          </a:xfrm>
          <a:prstGeom prst="rect">
            <a:avLst/>
          </a:prstGeom>
          <a:noFill/>
        </p:spPr>
        <p:txBody>
          <a:bodyPr wrap="square" rtlCol="0">
            <a:spAutoFit/>
          </a:bodyPr>
          <a:lstStyle/>
          <a:p>
            <a:r>
              <a:rPr lang="es-ES" sz="1300" dirty="0"/>
              <a:t>GASTO REALIZADO</a:t>
            </a:r>
          </a:p>
          <a:p>
            <a:r>
              <a:rPr lang="es-ES" sz="1100" dirty="0"/>
              <a:t>  (</a:t>
            </a:r>
            <a:r>
              <a:rPr lang="es-ES" sz="1100" dirty="0" err="1"/>
              <a:t>materiales+MO</a:t>
            </a:r>
            <a:r>
              <a:rPr lang="es-ES" sz="1100" dirty="0"/>
              <a:t>)</a:t>
            </a:r>
          </a:p>
        </p:txBody>
      </p:sp>
      <p:sp>
        <p:nvSpPr>
          <p:cNvPr id="6" name="CuadroTexto 5"/>
          <p:cNvSpPr txBox="1"/>
          <p:nvPr/>
        </p:nvSpPr>
        <p:spPr>
          <a:xfrm>
            <a:off x="4211960" y="1484784"/>
            <a:ext cx="2160240" cy="661720"/>
          </a:xfrm>
          <a:prstGeom prst="rect">
            <a:avLst/>
          </a:prstGeom>
          <a:noFill/>
        </p:spPr>
        <p:txBody>
          <a:bodyPr wrap="square" rtlCol="0">
            <a:spAutoFit/>
          </a:bodyPr>
          <a:lstStyle/>
          <a:p>
            <a:r>
              <a:rPr lang="es-ES" sz="1300" dirty="0"/>
              <a:t>BENEFICIO SEGÚN AVANCE DE OBRA </a:t>
            </a:r>
            <a:r>
              <a:rPr lang="es-ES" sz="1100" dirty="0"/>
              <a:t>(</a:t>
            </a:r>
            <a:r>
              <a:rPr lang="es-ES" sz="1100" dirty="0" err="1"/>
              <a:t>MOD+Subcontratación</a:t>
            </a:r>
            <a:r>
              <a:rPr lang="es-ES" sz="1100" dirty="0"/>
              <a:t>)</a:t>
            </a:r>
            <a:endParaRPr lang="es-ES" sz="1100" u="sng" dirty="0"/>
          </a:p>
        </p:txBody>
      </p:sp>
      <p:sp>
        <p:nvSpPr>
          <p:cNvPr id="7" name="CuadroTexto 6"/>
          <p:cNvSpPr txBox="1"/>
          <p:nvPr/>
        </p:nvSpPr>
        <p:spPr>
          <a:xfrm>
            <a:off x="6516216" y="1484784"/>
            <a:ext cx="2160240" cy="292388"/>
          </a:xfrm>
          <a:prstGeom prst="rect">
            <a:avLst/>
          </a:prstGeom>
          <a:noFill/>
        </p:spPr>
        <p:txBody>
          <a:bodyPr wrap="square" rtlCol="0">
            <a:spAutoFit/>
          </a:bodyPr>
          <a:lstStyle/>
          <a:p>
            <a:r>
              <a:rPr lang="es-ES" sz="1300" dirty="0"/>
              <a:t>INGRESO FACTURADO</a:t>
            </a:r>
            <a:endParaRPr lang="es-ES" sz="1300" u="sng" dirty="0"/>
          </a:p>
        </p:txBody>
      </p:sp>
      <p:sp>
        <p:nvSpPr>
          <p:cNvPr id="2" name="CuadroTexto 1"/>
          <p:cNvSpPr txBox="1"/>
          <p:nvPr/>
        </p:nvSpPr>
        <p:spPr>
          <a:xfrm>
            <a:off x="3748626" y="1446312"/>
            <a:ext cx="319318" cy="369332"/>
          </a:xfrm>
          <a:prstGeom prst="rect">
            <a:avLst/>
          </a:prstGeom>
          <a:noFill/>
        </p:spPr>
        <p:txBody>
          <a:bodyPr wrap="none" rtlCol="0">
            <a:spAutoFit/>
          </a:bodyPr>
          <a:lstStyle/>
          <a:p>
            <a:r>
              <a:rPr lang="es-ES" dirty="0"/>
              <a:t>+</a:t>
            </a:r>
          </a:p>
        </p:txBody>
      </p:sp>
      <p:sp>
        <p:nvSpPr>
          <p:cNvPr id="8" name="CuadroTexto 7"/>
          <p:cNvSpPr txBox="1"/>
          <p:nvPr/>
        </p:nvSpPr>
        <p:spPr>
          <a:xfrm>
            <a:off x="6038582" y="1446028"/>
            <a:ext cx="261610" cy="369332"/>
          </a:xfrm>
          <a:prstGeom prst="rect">
            <a:avLst/>
          </a:prstGeom>
          <a:noFill/>
        </p:spPr>
        <p:txBody>
          <a:bodyPr wrap="none" rtlCol="0">
            <a:spAutoFit/>
          </a:bodyPr>
          <a:lstStyle/>
          <a:p>
            <a:r>
              <a:rPr lang="es-ES" dirty="0"/>
              <a:t>-</a:t>
            </a:r>
          </a:p>
        </p:txBody>
      </p:sp>
      <p:sp>
        <p:nvSpPr>
          <p:cNvPr id="10" name="CuadroTexto 9"/>
          <p:cNvSpPr txBox="1"/>
          <p:nvPr/>
        </p:nvSpPr>
        <p:spPr>
          <a:xfrm>
            <a:off x="4374754" y="3284984"/>
            <a:ext cx="2195281" cy="292388"/>
          </a:xfrm>
          <a:prstGeom prst="rect">
            <a:avLst/>
          </a:prstGeom>
          <a:noFill/>
        </p:spPr>
        <p:txBody>
          <a:bodyPr wrap="none" rtlCol="0">
            <a:spAutoFit/>
          </a:bodyPr>
          <a:lstStyle/>
          <a:p>
            <a:r>
              <a:rPr lang="es-ES" sz="1300" dirty="0"/>
              <a:t>(MO Real+ </a:t>
            </a:r>
            <a:r>
              <a:rPr lang="es-ES" sz="1300" dirty="0" err="1"/>
              <a:t>Subcontr</a:t>
            </a:r>
            <a:r>
              <a:rPr lang="es-ES" sz="1300" dirty="0"/>
              <a:t>. Real)</a:t>
            </a:r>
          </a:p>
        </p:txBody>
      </p:sp>
      <p:cxnSp>
        <p:nvCxnSpPr>
          <p:cNvPr id="12" name="Conector recto 11"/>
          <p:cNvCxnSpPr/>
          <p:nvPr/>
        </p:nvCxnSpPr>
        <p:spPr>
          <a:xfrm flipV="1">
            <a:off x="4283968" y="3565527"/>
            <a:ext cx="2286067" cy="2"/>
          </a:xfrm>
          <a:prstGeom prst="line">
            <a:avLst/>
          </a:prstGeom>
        </p:spPr>
        <p:style>
          <a:lnRef idx="2">
            <a:schemeClr val="accent1"/>
          </a:lnRef>
          <a:fillRef idx="0">
            <a:schemeClr val="accent1"/>
          </a:fillRef>
          <a:effectRef idx="1">
            <a:schemeClr val="accent1"/>
          </a:effectRef>
          <a:fontRef idx="minor">
            <a:schemeClr val="tx1"/>
          </a:fontRef>
        </p:style>
      </p:cxnSp>
      <p:sp>
        <p:nvSpPr>
          <p:cNvPr id="13" name="CuadroTexto 12"/>
          <p:cNvSpPr txBox="1"/>
          <p:nvPr/>
        </p:nvSpPr>
        <p:spPr>
          <a:xfrm>
            <a:off x="4283968" y="3577372"/>
            <a:ext cx="2408480" cy="292388"/>
          </a:xfrm>
          <a:prstGeom prst="rect">
            <a:avLst/>
          </a:prstGeom>
          <a:noFill/>
        </p:spPr>
        <p:txBody>
          <a:bodyPr wrap="none" rtlCol="0">
            <a:spAutoFit/>
          </a:bodyPr>
          <a:lstStyle/>
          <a:p>
            <a:r>
              <a:rPr lang="es-ES" sz="1300" dirty="0"/>
              <a:t>(MO Real + </a:t>
            </a:r>
            <a:r>
              <a:rPr lang="es-ES" sz="1300" dirty="0" err="1"/>
              <a:t>Sucontr</a:t>
            </a:r>
            <a:r>
              <a:rPr lang="es-ES" sz="1300" dirty="0"/>
              <a:t>. Previsto)</a:t>
            </a:r>
          </a:p>
        </p:txBody>
      </p:sp>
      <p:sp>
        <p:nvSpPr>
          <p:cNvPr id="14" name="CuadroTexto 13"/>
          <p:cNvSpPr txBox="1"/>
          <p:nvPr/>
        </p:nvSpPr>
        <p:spPr>
          <a:xfrm>
            <a:off x="3257667" y="2466143"/>
            <a:ext cx="3744416" cy="292388"/>
          </a:xfrm>
          <a:prstGeom prst="rect">
            <a:avLst/>
          </a:prstGeom>
          <a:noFill/>
        </p:spPr>
        <p:txBody>
          <a:bodyPr wrap="square" rtlCol="0">
            <a:spAutoFit/>
          </a:bodyPr>
          <a:lstStyle/>
          <a:p>
            <a:r>
              <a:rPr lang="es-ES" sz="1300" dirty="0"/>
              <a:t>BENEFICIO * </a:t>
            </a:r>
            <a:r>
              <a:rPr lang="es-ES" sz="1300" dirty="0" err="1"/>
              <a:t>PorcentajeSegúnAvanceObra</a:t>
            </a:r>
            <a:endParaRPr lang="es-ES" sz="1100" u="sng" dirty="0"/>
          </a:p>
        </p:txBody>
      </p:sp>
      <p:cxnSp>
        <p:nvCxnSpPr>
          <p:cNvPr id="15" name="Conector recto de flecha 14"/>
          <p:cNvCxnSpPr/>
          <p:nvPr/>
        </p:nvCxnSpPr>
        <p:spPr>
          <a:xfrm>
            <a:off x="4860032" y="2158347"/>
            <a:ext cx="0" cy="3077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CuadroTexto 15"/>
          <p:cNvSpPr txBox="1"/>
          <p:nvPr/>
        </p:nvSpPr>
        <p:spPr>
          <a:xfrm rot="5400000">
            <a:off x="5145291" y="2833217"/>
            <a:ext cx="319318" cy="369332"/>
          </a:xfrm>
          <a:prstGeom prst="rect">
            <a:avLst/>
          </a:prstGeom>
          <a:noFill/>
        </p:spPr>
        <p:txBody>
          <a:bodyPr wrap="none" rtlCol="0">
            <a:spAutoFit/>
          </a:bodyPr>
          <a:lstStyle/>
          <a:p>
            <a:r>
              <a:rPr lang="es-ES" dirty="0"/>
              <a:t>=</a:t>
            </a:r>
          </a:p>
        </p:txBody>
      </p:sp>
    </p:spTree>
    <p:extLst>
      <p:ext uri="{BB962C8B-B14F-4D97-AF65-F5344CB8AC3E}">
        <p14:creationId xmlns:p14="http://schemas.microsoft.com/office/powerpoint/2010/main" val="42529109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o">
  <a:themeElements>
    <a:clrScheme name="Urbano">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Clásico de Office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Urbano">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12145</TotalTime>
  <Words>569</Words>
  <Application>Microsoft Office PowerPoint</Application>
  <PresentationFormat>Presentación en pantalla (4:3)</PresentationFormat>
  <Paragraphs>67</Paragraphs>
  <Slides>8</Slides>
  <Notes>0</Notes>
  <HiddenSlides>0</HiddenSlides>
  <MMClips>0</MMClips>
  <ScaleCrop>false</ScaleCrop>
  <HeadingPairs>
    <vt:vector size="6" baseType="variant">
      <vt:variant>
        <vt:lpstr>Fuentes usadas</vt:lpstr>
      </vt:variant>
      <vt:variant>
        <vt:i4>5</vt:i4>
      </vt:variant>
      <vt:variant>
        <vt:lpstr>Tema</vt:lpstr>
      </vt:variant>
      <vt:variant>
        <vt:i4>2</vt:i4>
      </vt:variant>
      <vt:variant>
        <vt:lpstr>Títulos de diapositiva</vt:lpstr>
      </vt:variant>
      <vt:variant>
        <vt:i4>8</vt:i4>
      </vt:variant>
    </vt:vector>
  </HeadingPairs>
  <TitlesOfParts>
    <vt:vector size="15" baseType="lpstr">
      <vt:lpstr>Arial</vt:lpstr>
      <vt:lpstr>Calibri</vt:lpstr>
      <vt:lpstr>Calibri Light</vt:lpstr>
      <vt:lpstr>Georgia</vt:lpstr>
      <vt:lpstr>Wingdings 2</vt:lpstr>
      <vt:lpstr>Urbano</vt:lpstr>
      <vt:lpstr>Diseño personalizado</vt:lpstr>
      <vt:lpstr>Presentación de PowerPoint</vt:lpstr>
      <vt:lpstr>Obra en Curso</vt:lpstr>
      <vt:lpstr>Obra en Curso</vt:lpstr>
      <vt:lpstr>Fórmula de Cálculo</vt:lpstr>
      <vt:lpstr>Casos particulares</vt:lpstr>
      <vt:lpstr>Problemas habituales que influyen el cálculo de la Obra en Curso</vt:lpstr>
      <vt:lpstr>Presentación de PowerPoint</vt:lpstr>
      <vt:lpstr>Nueva Obra en Curso</vt:lpstr>
    </vt:vector>
  </TitlesOfParts>
  <Company>ACME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Rodolfo Barros Díaz</dc:creator>
  <cp:lastModifiedBy>Jose Ramon Molinero Mantecon</cp:lastModifiedBy>
  <cp:revision>342</cp:revision>
  <dcterms:created xsi:type="dcterms:W3CDTF">2017-01-28T18:17:34Z</dcterms:created>
  <dcterms:modified xsi:type="dcterms:W3CDTF">2026-05-26T10:42:46Z</dcterms:modified>
</cp:coreProperties>
</file>